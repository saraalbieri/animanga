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44"/>
    <p:restoredTop sz="94717"/>
  </p:normalViewPr>
  <p:slideViewPr>
    <p:cSldViewPr snapToGrid="0">
      <p:cViewPr varScale="1">
        <p:scale>
          <a:sx n="120" d="100"/>
          <a:sy n="120" d="100"/>
        </p:scale>
        <p:origin x="2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Personaggi univoci</c:v>
          </c:tx>
          <c:spPr>
            <a:solidFill>
              <a:srgbClr val="F43F5E"/>
            </a:solidFill>
          </c:spPr>
          <c:invertIfNegative val="1"/>
          <c:dLbls>
            <c:delete val="1"/>
          </c:dLbls>
          <c:cat>
            <c:strLit>
              <c:ptCount val="2"/>
              <c:pt idx="0">
                <c:v>Con character type</c:v>
              </c:pt>
              <c:pt idx="1">
                <c:v>Senza character type</c:v>
              </c:pt>
            </c:strLit>
          </c:cat>
          <c:val>
            <c:numLit>
              <c:formatCode>General</c:formatCode>
              <c:ptCount val="2"/>
              <c:pt idx="0">
                <c:v>7</c:v>
              </c:pt>
              <c:pt idx="1">
                <c:v>1107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4C2-BD41-926D-6582E829F0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F172A"/>
                </a:solidFill>
              </a:defRPr>
            </a:pPr>
            <a:endParaRPr lang="it-IT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00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it-IT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/>
          <p:cNvPicPr>
            <a:picLocks noChangeAspect="1"/>
          </p:cNvPicPr>
          <p:nvPr/>
        </p:nvPicPr>
        <p:blipFill>
          <a:blip r:embed="rId3"/>
          <a:srcRect l="38477" r="38477"/>
          <a:stretch>
            <a:fillRect/>
          </a:stretch>
        </p:blipFill>
        <p:spPr>
          <a:xfrm>
            <a:off x="6572250" y="0"/>
            <a:ext cx="2809875" cy="6858000"/>
          </a:xfrm>
          <a:prstGeom prst="rect">
            <a:avLst/>
          </a:prstGeom>
        </p:spPr>
      </p:pic>
      <p:pic>
        <p:nvPicPr>
          <p:cNvPr id="15" name="Immagine 14"/>
          <p:cNvPicPr>
            <a:picLocks noChangeAspect="1"/>
          </p:cNvPicPr>
          <p:nvPr/>
        </p:nvPicPr>
        <p:blipFill>
          <a:blip r:embed="rId4"/>
          <a:srcRect l="38487" r="38487"/>
          <a:stretch>
            <a:fillRect/>
          </a:stretch>
        </p:blipFill>
        <p:spPr>
          <a:xfrm>
            <a:off x="9382125" y="0"/>
            <a:ext cx="2809875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27A5B699-B26D-4363-B1E9-3CE69DAFFF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574DA69-64ED-45F0-83A5-5C14E518D0A4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552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AniManga O-KG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D71EA89-9E3E-4AF2-B41F-1BEBD3388C5D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514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43F5E"/>
                </a:solidFill>
              </a:defRPr>
            </a:pPr>
            <a:r>
              <a:rPr sz="1875" b="1">
                <a:solidFill>
                  <a:srgbClr val="F43F5E"/>
                </a:solidFill>
              </a:rPr>
              <a:t>Versione dettagliata del progetto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C91975A-6EF8-4C6B-8090-EE7AE5278E15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 dirty="0" err="1">
                <a:solidFill>
                  <a:srgbClr val="475569"/>
                </a:solidFill>
              </a:rPr>
              <a:t>Mappatura</a:t>
            </a:r>
            <a:r>
              <a:rPr sz="1725" b="0" dirty="0">
                <a:solidFill>
                  <a:srgbClr val="475569"/>
                </a:solidFill>
              </a:rPr>
              <a:t> degli </a:t>
            </a:r>
            <a:r>
              <a:rPr sz="1725" b="0" dirty="0" err="1">
                <a:solidFill>
                  <a:srgbClr val="475569"/>
                </a:solidFill>
              </a:rPr>
              <a:t>archetipi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narrativi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nei</a:t>
            </a:r>
            <a:r>
              <a:rPr sz="1725" b="0" dirty="0">
                <a:solidFill>
                  <a:srgbClr val="475569"/>
                </a:solidFill>
              </a:rPr>
              <a:t> media </a:t>
            </a:r>
            <a:r>
              <a:rPr sz="1725" b="0" dirty="0" err="1">
                <a:solidFill>
                  <a:srgbClr val="475569"/>
                </a:solidFill>
              </a:rPr>
              <a:t>giapponesi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attraverso</a:t>
            </a:r>
            <a:r>
              <a:rPr sz="1725" b="0" dirty="0">
                <a:solidFill>
                  <a:srgbClr val="475569"/>
                </a:solidFill>
              </a:rPr>
              <a:t> </a:t>
            </a:r>
            <a:r>
              <a:rPr sz="1725" b="0" dirty="0" err="1">
                <a:solidFill>
                  <a:srgbClr val="475569"/>
                </a:solidFill>
              </a:rPr>
              <a:t>Wikidata</a:t>
            </a:r>
            <a:r>
              <a:rPr sz="1725" b="0" dirty="0">
                <a:solidFill>
                  <a:srgbClr val="475569"/>
                </a:solidFill>
              </a:rPr>
              <a:t>, SPARQL, LLM e RDF.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E065A92-0A37-482B-BE4F-D78D70EEB1F3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5619750" cy="11049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1777BD5-DA83-4EAF-A74F-4DFBA3E009C4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3F5E"/>
                </a:solidFill>
              </a:defRPr>
            </a:pPr>
            <a:r>
              <a:rPr sz="1500" b="1">
                <a:solidFill>
                  <a:srgbClr val="F43F5E"/>
                </a:solidFill>
              </a:rPr>
              <a:t>Index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BDE600C-A8CE-4487-9E34-EB5422E869AC}"/>
              </a:ext>
            </a:extLst>
          </p:cNvPr>
          <p:cNvSpPr>
            <a:spLocks noGrp="1"/>
          </p:cNvSpPr>
          <p:nvPr/>
        </p:nvSpPr>
        <p:spPr>
          <a:xfrm>
            <a:off x="2000250" y="34480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https://saraalbieri.github.io/AniManga/index.html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FCC948F-7ABD-4A1B-BD35-76BFCA1A0540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43F5E"/>
                </a:solidFill>
              </a:defRPr>
            </a:pPr>
            <a:r>
              <a:rPr sz="1500" b="1">
                <a:solidFill>
                  <a:srgbClr val="F43F5E"/>
                </a:solidFill>
              </a:rPr>
              <a:t>Repository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959A93B-5D12-4A84-8B93-F5951FA35167}"/>
              </a:ext>
            </a:extLst>
          </p:cNvPr>
          <p:cNvSpPr>
            <a:spLocks noGrp="1"/>
          </p:cNvSpPr>
          <p:nvPr/>
        </p:nvSpPr>
        <p:spPr>
          <a:xfrm>
            <a:off x="2000250" y="38481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 dirty="0">
                <a:solidFill>
                  <a:srgbClr val="475569"/>
                </a:solidFill>
              </a:rPr>
              <a:t>https://</a:t>
            </a:r>
            <a:r>
              <a:rPr sz="1275" b="0" dirty="0" err="1">
                <a:solidFill>
                  <a:srgbClr val="475569"/>
                </a:solidFill>
              </a:rPr>
              <a:t>github.com</a:t>
            </a:r>
            <a:r>
              <a:rPr sz="1275" b="0" dirty="0">
                <a:solidFill>
                  <a:srgbClr val="475569"/>
                </a:solidFill>
              </a:rPr>
              <a:t>/</a:t>
            </a:r>
            <a:r>
              <a:rPr sz="1275" b="0" dirty="0" err="1">
                <a:solidFill>
                  <a:srgbClr val="475569"/>
                </a:solidFill>
              </a:rPr>
              <a:t>saraalbieri</a:t>
            </a:r>
            <a:r>
              <a:rPr sz="1275" b="0" dirty="0">
                <a:solidFill>
                  <a:srgbClr val="475569"/>
                </a:solidFill>
              </a:rPr>
              <a:t>/</a:t>
            </a:r>
            <a:r>
              <a:rPr sz="1275" b="0" dirty="0" err="1">
                <a:solidFill>
                  <a:srgbClr val="475569"/>
                </a:solidFill>
              </a:rPr>
              <a:t>AniManga</a:t>
            </a:r>
            <a:endParaRPr sz="1275" b="0" dirty="0">
              <a:solidFill>
                <a:srgbClr val="475569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29AD981-A300-4721-B28B-A1C0CCE8CAE9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E7620BC-7286-FEED-0E06-7FCBB9825367}"/>
              </a:ext>
            </a:extLst>
          </p:cNvPr>
          <p:cNvSpPr>
            <a:spLocks noGrp="1"/>
          </p:cNvSpPr>
          <p:nvPr/>
        </p:nvSpPr>
        <p:spPr>
          <a:xfrm>
            <a:off x="400050" y="5276850"/>
            <a:ext cx="5619750" cy="4953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it-IT" sz="1725" dirty="0">
                <a:solidFill>
                  <a:srgbClr val="475569"/>
                </a:solidFill>
              </a:rPr>
              <a:t>Autori: Michele Franco – Sara Albieri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6355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86E93F57-EC49-4DD0-B667-49E4C49079A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Domanda di ricerca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C02309E-9EC7-4789-9347-A153AA031DAE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Il progetto nasce da una lacuna precisa: Wikidata descrive bene molte entita, ma non sempre esplicita il ruolo narrativo dei personaggi.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89DA2C9-F777-477B-8753-C21E402A151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CCEE8C4-1F09-4164-878D-E97A11D9CDEA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BB737CC-42AE-4CC5-8B3A-A1839DBB74AC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857750" cy="29527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C7AEBEE-38D1-43C2-B926-73C7ABDBCD6E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43F5E"/>
                </a:solidFill>
              </a:defRPr>
            </a:pPr>
            <a:r>
              <a:rPr sz="2250" b="1">
                <a:solidFill>
                  <a:srgbClr val="F43F5E"/>
                </a:solidFill>
              </a:rPr>
              <a:t>Problema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7C4061F-8054-4B30-A85F-B157D3D921AC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3905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Per molti personaggi non e presente propriamente un archetipo narrativo strutturato. Esistono descrizioni, QID, opere collegate e identificativi, ma spesso manca il character type.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F1ECE70-CF5B-46C1-B057-B19AA73EC6C2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191000" cy="29527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4D275C0-F85C-465C-970B-D6F76AEC1968}"/>
              </a:ext>
            </a:extLst>
          </p:cNvPr>
          <p:cNvSpPr>
            <a:spLocks noGrp="1"/>
          </p:cNvSpPr>
          <p:nvPr/>
        </p:nvSpPr>
        <p:spPr>
          <a:xfrm>
            <a:off x="7010400" y="24003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Ipotesi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87E499C-A460-4C23-9C66-F2DAF404F135}"/>
              </a:ext>
            </a:extLst>
          </p:cNvPr>
          <p:cNvSpPr>
            <a:spLocks noGrp="1"/>
          </p:cNvSpPr>
          <p:nvPr/>
        </p:nvSpPr>
        <p:spPr>
          <a:xfrm>
            <a:off x="7010400" y="3028950"/>
            <a:ext cx="323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SPARQL puo misurare il gap; gli LLM possono proporre archetipi; la validazione umana decide cosa diventa RDF.</a:t>
            </a:r>
          </a:p>
        </p:txBody>
      </p:sp>
    </p:spTree>
    <p:extLst>
      <p:ext uri="{BB962C8B-B14F-4D97-AF65-F5344CB8AC3E}">
        <p14:creationId xmlns:p14="http://schemas.microsoft.com/office/powerpoint/2010/main" val="2109145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590BDBCF-517F-46F5-B578-08E963332AF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Perche gli archetipi contano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E296C4D-DD92-4BAC-A757-364DE1C1CCF7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Un archetipo non e un semplice attributo descrittivo: rende interrogabile la funzione narrativa di un personaggio.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E7DC399-92E3-45E5-AF38-044F7E70A30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5F3557A-27F1-4323-85AA-B703985DBC1E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CF2452C-70D7-4F52-9E14-26A843EF9031}"/>
              </a:ext>
            </a:extLst>
          </p:cNvPr>
          <p:cNvSpPr>
            <a:spLocks noGrp="1"/>
          </p:cNvSpPr>
          <p:nvPr/>
        </p:nvSpPr>
        <p:spPr>
          <a:xfrm>
            <a:off x="819150" y="220980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CCC5987-DB94-4F93-A70D-1BE158521395}"/>
              </a:ext>
            </a:extLst>
          </p:cNvPr>
          <p:cNvSpPr>
            <a:spLocks noGrp="1"/>
          </p:cNvSpPr>
          <p:nvPr/>
        </p:nvSpPr>
        <p:spPr>
          <a:xfrm>
            <a:off x="1123950" y="2152650"/>
            <a:ext cx="845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Permette di confrontare personaggi di opere diverse secondo ruoli narrativi comuni.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DA1A9CE-DB6E-4108-83FC-4F6EC513433F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7EE738C-DA9E-4242-AE27-B6EC61E612FC}"/>
              </a:ext>
            </a:extLst>
          </p:cNvPr>
          <p:cNvSpPr>
            <a:spLocks noGrp="1"/>
          </p:cNvSpPr>
          <p:nvPr/>
        </p:nvSpPr>
        <p:spPr>
          <a:xfrm>
            <a:off x="1123950" y="2733675"/>
            <a:ext cx="845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 dirty="0" err="1">
                <a:solidFill>
                  <a:srgbClr val="0F172A"/>
                </a:solidFill>
              </a:rPr>
              <a:t>Aiuta</a:t>
            </a:r>
            <a:r>
              <a:rPr sz="1800" b="0" dirty="0">
                <a:solidFill>
                  <a:srgbClr val="0F172A"/>
                </a:solidFill>
              </a:rPr>
              <a:t> a </a:t>
            </a:r>
            <a:r>
              <a:rPr sz="1800" b="0" dirty="0" err="1">
                <a:solidFill>
                  <a:srgbClr val="0F172A"/>
                </a:solidFill>
              </a:rPr>
              <a:t>distinguere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dati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enciclopedici</a:t>
            </a:r>
            <a:r>
              <a:rPr sz="1800" b="0" dirty="0">
                <a:solidFill>
                  <a:srgbClr val="0F172A"/>
                </a:solidFill>
              </a:rPr>
              <a:t> da </a:t>
            </a:r>
            <a:r>
              <a:rPr sz="1800" b="0" dirty="0" err="1">
                <a:solidFill>
                  <a:srgbClr val="0F172A"/>
                </a:solidFill>
              </a:rPr>
              <a:t>interpretazioni</a:t>
            </a:r>
            <a:r>
              <a:rPr sz="1800" b="0" dirty="0">
                <a:solidFill>
                  <a:srgbClr val="0F172A"/>
                </a:solidFill>
              </a:rPr>
              <a:t> </a:t>
            </a:r>
            <a:r>
              <a:rPr sz="1800" b="0" dirty="0" err="1">
                <a:solidFill>
                  <a:srgbClr val="0F172A"/>
                </a:solidFill>
              </a:rPr>
              <a:t>narratologiche</a:t>
            </a:r>
            <a:r>
              <a:rPr sz="1800" b="0" dirty="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709F746-BA47-4005-829B-C81E5BFCDD80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8458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endParaRPr sz="1800" b="0" dirty="0">
              <a:solidFill>
                <a:srgbClr val="0F172A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C77937D-1B2A-499B-ACCD-9FF81313C903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4171950" cy="99060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07D825C-4E7F-4879-84E1-596D2A2DA7D8}"/>
              </a:ext>
            </a:extLst>
          </p:cNvPr>
          <p:cNvSpPr>
            <a:spLocks noGrp="1"/>
          </p:cNvSpPr>
          <p:nvPr/>
        </p:nvSpPr>
        <p:spPr>
          <a:xfrm>
            <a:off x="7200900" y="50673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Idea chiave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A3C4F58-E847-4628-B985-86C982AB25CE}"/>
              </a:ext>
            </a:extLst>
          </p:cNvPr>
          <p:cNvSpPr>
            <a:spLocks noGrp="1"/>
          </p:cNvSpPr>
          <p:nvPr/>
        </p:nvSpPr>
        <p:spPr>
          <a:xfrm>
            <a:off x="8763000" y="4972050"/>
            <a:ext cx="190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Un concetto interpretativo diventa dato controllabile.</a:t>
            </a:r>
          </a:p>
        </p:txBody>
      </p:sp>
    </p:spTree>
    <p:extLst>
      <p:ext uri="{BB962C8B-B14F-4D97-AF65-F5344CB8AC3E}">
        <p14:creationId xmlns:p14="http://schemas.microsoft.com/office/powerpoint/2010/main" val="98339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41E65D9C-C02E-40AA-84CD-65969DA759F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Corpus e perimetro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693559D-1D5F-4CBA-85FE-ACE96BCD2A08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Il campione usa franchise molto noti per verificare se il problema e circoscritto o trasversale.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78067CB0-2C74-4782-BAFF-9F0F769035C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3387E4A-A6AF-4440-8EDD-D460F10CDE01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04</a:t>
            </a:r>
          </a:p>
        </p:txBody>
      </p:sp>
      <p:pic>
        <p:nvPicPr>
          <p:cNvPr id="18" name="Immagine 17"/>
          <p:cNvPicPr>
            <a:picLocks noChangeAspect="1"/>
          </p:cNvPicPr>
          <p:nvPr/>
        </p:nvPicPr>
        <p:blipFill>
          <a:blip r:embed="rId3"/>
          <a:srcRect t="123" b="123"/>
          <a:stretch>
            <a:fillRect/>
          </a:stretch>
        </p:blipFill>
        <p:spPr>
          <a:xfrm>
            <a:off x="400050" y="2057400"/>
            <a:ext cx="3429000" cy="1924050"/>
          </a:xfrm>
          <a:prstGeom prst="rect">
            <a:avLst/>
          </a:prstGeom>
        </p:spPr>
      </p:pic>
      <p:pic>
        <p:nvPicPr>
          <p:cNvPr id="19" name="Immagine 18"/>
          <p:cNvPicPr>
            <a:picLocks noChangeAspect="1"/>
          </p:cNvPicPr>
          <p:nvPr/>
        </p:nvPicPr>
        <p:blipFill>
          <a:blip r:embed="rId4"/>
          <a:srcRect t="77" b="77"/>
          <a:stretch>
            <a:fillRect/>
          </a:stretch>
        </p:blipFill>
        <p:spPr>
          <a:xfrm>
            <a:off x="4381500" y="2057400"/>
            <a:ext cx="3429000" cy="1924050"/>
          </a:xfrm>
          <a:prstGeom prst="rect">
            <a:avLst/>
          </a:prstGeom>
        </p:spPr>
      </p:pic>
      <p:pic>
        <p:nvPicPr>
          <p:cNvPr id="20" name="Immagine 19"/>
          <p:cNvPicPr>
            <a:picLocks noChangeAspect="1"/>
          </p:cNvPicPr>
          <p:nvPr/>
        </p:nvPicPr>
        <p:blipFill>
          <a:blip r:embed="rId5"/>
          <a:srcRect l="19833" r="19833"/>
          <a:stretch>
            <a:fillRect/>
          </a:stretch>
        </p:blipFill>
        <p:spPr>
          <a:xfrm>
            <a:off x="8362950" y="2057400"/>
            <a:ext cx="3429000" cy="192405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B5237F9E-F152-4D79-BCC3-6707D6797130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One Piece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3F11E1E-4DE3-4E4B-9C37-2D3AF82A5CC4}"/>
              </a:ext>
            </a:extLst>
          </p:cNvPr>
          <p:cNvSpPr>
            <a:spLocks noGrp="1"/>
          </p:cNvSpPr>
          <p:nvPr/>
        </p:nvSpPr>
        <p:spPr>
          <a:xfrm>
            <a:off x="400050" y="45910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Campione ampio, molti personaggi e forte varieta di ruoli.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0157A53-44C5-4BB5-882D-9F395B6CDF53}"/>
              </a:ext>
            </a:extLst>
          </p:cNvPr>
          <p:cNvSpPr>
            <a:spLocks noGrp="1"/>
          </p:cNvSpPr>
          <p:nvPr/>
        </p:nvSpPr>
        <p:spPr>
          <a:xfrm>
            <a:off x="4381500" y="4191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Naruto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D9A0190-1056-4369-985C-4A4F59BC17A7}"/>
              </a:ext>
            </a:extLst>
          </p:cNvPr>
          <p:cNvSpPr>
            <a:spLocks noGrp="1"/>
          </p:cNvSpPr>
          <p:nvPr/>
        </p:nvSpPr>
        <p:spPr>
          <a:xfrm>
            <a:off x="4381500" y="45910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Caso utile per disambiguazione e personaggi ricorrenti.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AED50B0-7F64-418B-879F-ED824DF2E08B}"/>
              </a:ext>
            </a:extLst>
          </p:cNvPr>
          <p:cNvSpPr>
            <a:spLocks noGrp="1"/>
          </p:cNvSpPr>
          <p:nvPr/>
        </p:nvSpPr>
        <p:spPr>
          <a:xfrm>
            <a:off x="8362950" y="41910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Death Note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A0C6CEB-7431-420D-B945-E9C515237839}"/>
              </a:ext>
            </a:extLst>
          </p:cNvPr>
          <p:cNvSpPr>
            <a:spLocks noGrp="1"/>
          </p:cNvSpPr>
          <p:nvPr/>
        </p:nvSpPr>
        <p:spPr>
          <a:xfrm>
            <a:off x="8362950" y="4591050"/>
            <a:ext cx="323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Caso denso di ambiguita morale e funzioni narrative forti.</a:t>
            </a:r>
          </a:p>
        </p:txBody>
      </p:sp>
    </p:spTree>
    <p:extLst>
      <p:ext uri="{BB962C8B-B14F-4D97-AF65-F5344CB8AC3E}">
        <p14:creationId xmlns:p14="http://schemas.microsoft.com/office/powerpoint/2010/main" val="786941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5AE6E749-CA4C-43C8-BEED-D6C19A77A5A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Il problema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0E90C9E-5910-4788-89D5-ED959CC3FB41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Per molti personaggi non è presente un archetipo narrativo strutturato: le entità esistono, ma il ruolo resta implicito.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ADB1F03-303C-4EA7-9722-1361DB60064D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1A4D47F-B975-451D-822A-5CE22E213BE3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E3B890C-1022-4CA8-8848-201F17606C34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25717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87FD6B3-3A4B-4576-AB23-31FB57A8A4B3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43F5E"/>
                </a:solidFill>
              </a:defRPr>
            </a:pPr>
            <a:r>
              <a:rPr sz="3600" b="1">
                <a:solidFill>
                  <a:srgbClr val="F43F5E"/>
                </a:solidFill>
              </a:rPr>
              <a:t>Entità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A93B8A6-5FF4-4213-8453-D7C0732EC303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2152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personaggi e opere hanno QID e descrizioni Wikidata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6361446-7564-4C10-A7B4-E1B9DD790A81}"/>
              </a:ext>
            </a:extLst>
          </p:cNvPr>
          <p:cNvSpPr>
            <a:spLocks noGrp="1"/>
          </p:cNvSpPr>
          <p:nvPr/>
        </p:nvSpPr>
        <p:spPr>
          <a:xfrm>
            <a:off x="3352800" y="2266950"/>
            <a:ext cx="25717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4A49A65-18B8-4C50-8696-5617647EFBAC}"/>
              </a:ext>
            </a:extLst>
          </p:cNvPr>
          <p:cNvSpPr>
            <a:spLocks noGrp="1"/>
          </p:cNvSpPr>
          <p:nvPr/>
        </p:nvSpPr>
        <p:spPr>
          <a:xfrm>
            <a:off x="3562350" y="24765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Proprietà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667458D-4F5A-412A-87A5-B991F9197143}"/>
              </a:ext>
            </a:extLst>
          </p:cNvPr>
          <p:cNvSpPr>
            <a:spLocks noGrp="1"/>
          </p:cNvSpPr>
          <p:nvPr/>
        </p:nvSpPr>
        <p:spPr>
          <a:xfrm>
            <a:off x="3562350" y="3086100"/>
            <a:ext cx="2152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P674 collega i personaggi; P9071 descrive il character type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003F3DA-63D5-4A86-8D9A-E437FD41CBFF}"/>
              </a:ext>
            </a:extLst>
          </p:cNvPr>
          <p:cNvSpPr>
            <a:spLocks noGrp="1"/>
          </p:cNvSpPr>
          <p:nvPr/>
        </p:nvSpPr>
        <p:spPr>
          <a:xfrm>
            <a:off x="6305550" y="2266950"/>
            <a:ext cx="25717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5327EDE-CC62-4058-98C9-FEBD48F4CDAB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38BDF8"/>
                </a:solidFill>
              </a:defRPr>
            </a:pPr>
            <a:r>
              <a:rPr sz="3600" b="1">
                <a:solidFill>
                  <a:srgbClr val="38BDF8"/>
                </a:solidFill>
              </a:rPr>
              <a:t>Archetipo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A71F65C-97A7-41DE-8F3A-B7D22A1F7CEE}"/>
              </a:ext>
            </a:extLst>
          </p:cNvPr>
          <p:cNvSpPr>
            <a:spLocks noGrp="1"/>
          </p:cNvSpPr>
          <p:nvPr/>
        </p:nvSpPr>
        <p:spPr>
          <a:xfrm>
            <a:off x="6515100" y="3086100"/>
            <a:ext cx="2152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manca spesso una classificazione narrativa vera e propria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4780C95-8D57-4D39-BDE3-F4C64ECA747F}"/>
              </a:ext>
            </a:extLst>
          </p:cNvPr>
          <p:cNvSpPr>
            <a:spLocks noGrp="1"/>
          </p:cNvSpPr>
          <p:nvPr/>
        </p:nvSpPr>
        <p:spPr>
          <a:xfrm>
            <a:off x="9258300" y="2266950"/>
            <a:ext cx="2533650" cy="161925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BCA8984-3300-4F7F-B5AC-49A4B6483C72}"/>
              </a:ext>
            </a:extLst>
          </p:cNvPr>
          <p:cNvSpPr>
            <a:spLocks noGrp="1"/>
          </p:cNvSpPr>
          <p:nvPr/>
        </p:nvSpPr>
        <p:spPr>
          <a:xfrm>
            <a:off x="9467850" y="2476500"/>
            <a:ext cx="2114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rPr sz="3600" b="1">
                <a:solidFill>
                  <a:srgbClr val="22C55E"/>
                </a:solidFill>
              </a:rPr>
              <a:t>RDF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F4A2B08-A4D1-425E-ABE3-BEEE941B7914}"/>
              </a:ext>
            </a:extLst>
          </p:cNvPr>
          <p:cNvSpPr>
            <a:spLocks noGrp="1"/>
          </p:cNvSpPr>
          <p:nvPr/>
        </p:nvSpPr>
        <p:spPr>
          <a:xfrm>
            <a:off x="9467850" y="3086100"/>
            <a:ext cx="2114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arricchimento proposto solo dopo verifica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D040400-96C8-472C-89BD-606F68494058}"/>
              </a:ext>
            </a:extLst>
          </p:cNvPr>
          <p:cNvSpPr>
            <a:spLocks noGrp="1"/>
          </p:cNvSpPr>
          <p:nvPr/>
        </p:nvSpPr>
        <p:spPr>
          <a:xfrm>
            <a:off x="400050" y="49149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Tesi del progetto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CB63B3C-46A5-498E-BE45-1DF4F9CA9DCF}"/>
              </a:ext>
            </a:extLst>
          </p:cNvPr>
          <p:cNvSpPr>
            <a:spLocks noGrp="1"/>
          </p:cNvSpPr>
          <p:nvPr/>
        </p:nvSpPr>
        <p:spPr>
          <a:xfrm>
            <a:off x="2914650" y="4876800"/>
            <a:ext cx="819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Descriviamo entità e proprietà, poi usiamo SPARQL e LLM per trasformare l’archetipo da interpretazione testuale a dato verificabile.</a:t>
            </a:r>
          </a:p>
        </p:txBody>
      </p:sp>
    </p:spTree>
    <p:extLst>
      <p:ext uri="{BB962C8B-B14F-4D97-AF65-F5344CB8AC3E}">
        <p14:creationId xmlns:p14="http://schemas.microsoft.com/office/powerpoint/2010/main" val="41187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23">
            <a:extLst>
              <a:ext uri="{FF2B5EF4-FFF2-40B4-BE49-F238E27FC236}">
                <a16:creationId xmlns:a16="http://schemas.microsoft.com/office/drawing/2014/main" id="{9F4A53CA-1987-441D-8807-04EFE976A74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Pipeline metodologica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FB8F148-2E04-4113-AE58-3C7E9A3D5990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La pipeline separa esplorazione, misura del gap, proposta interpretativa e pubblicazione dei dati.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E98C17D-6748-4C5E-BFBB-B89A22ACBBB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F302BBF-3FEC-4D2B-84C7-107474610376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3FD2528-0328-4117-A475-AEF2DF8E47C7}"/>
              </a:ext>
            </a:extLst>
          </p:cNvPr>
          <p:cNvSpPr>
            <a:spLocks noGrp="1"/>
          </p:cNvSpPr>
          <p:nvPr/>
        </p:nvSpPr>
        <p:spPr>
          <a:xfrm>
            <a:off x="533400" y="1943100"/>
            <a:ext cx="11125200" cy="3829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1603E4B-EC62-46D8-B4DD-85E457D4DCCD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01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EC62E75-B525-4B84-877D-4377ABB5C50A}"/>
              </a:ext>
            </a:extLst>
          </p:cNvPr>
          <p:cNvSpPr>
            <a:spLocks noGrp="1"/>
          </p:cNvSpPr>
          <p:nvPr/>
        </p:nvSpPr>
        <p:spPr>
          <a:xfrm>
            <a:off x="1543050" y="22669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Disambiguazione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F4CD3E6-3B99-4C9D-A81C-2AFA739DA1B7}"/>
              </a:ext>
            </a:extLst>
          </p:cNvPr>
          <p:cNvSpPr>
            <a:spLocks noGrp="1"/>
          </p:cNvSpPr>
          <p:nvPr/>
        </p:nvSpPr>
        <p:spPr>
          <a:xfrm>
            <a:off x="1543050" y="262890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Individuazione delle entita corrette per opere, anime, manga, franchise e omonimi.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569B372-5333-4E2A-B4DF-90E430B46AD4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3C49214-279D-43E5-99F5-53A6DDFB9F1C}"/>
              </a:ext>
            </a:extLst>
          </p:cNvPr>
          <p:cNvSpPr>
            <a:spLocks noGrp="1"/>
          </p:cNvSpPr>
          <p:nvPr/>
        </p:nvSpPr>
        <p:spPr>
          <a:xfrm>
            <a:off x="1543050" y="34671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Estrazione personaggi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123AD56-64E9-4125-AACF-82C19895C249}"/>
              </a:ext>
            </a:extLst>
          </p:cNvPr>
          <p:cNvSpPr>
            <a:spLocks noGrp="1"/>
          </p:cNvSpPr>
          <p:nvPr/>
        </p:nvSpPr>
        <p:spPr>
          <a:xfrm>
            <a:off x="1543050" y="382905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Uso di P674 per ottenere i personaggi collegati alle opere selezionate.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96ED4B6-36E7-4F8A-818A-3A59CCB4CF7B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AC852BF-AB92-4C2B-A4F3-84ED62D71FF5}"/>
              </a:ext>
            </a:extLst>
          </p:cNvPr>
          <p:cNvSpPr>
            <a:spLocks noGrp="1"/>
          </p:cNvSpPr>
          <p:nvPr/>
        </p:nvSpPr>
        <p:spPr>
          <a:xfrm>
            <a:off x="1543050" y="46672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Misura del gap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314CC6B-E997-487B-9868-2C4998FCC6EA}"/>
              </a:ext>
            </a:extLst>
          </p:cNvPr>
          <p:cNvSpPr>
            <a:spLocks noGrp="1"/>
          </p:cNvSpPr>
          <p:nvPr/>
        </p:nvSpPr>
        <p:spPr>
          <a:xfrm>
            <a:off x="1543050" y="502920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Verifica di P9071 e conteggio di personaggi con o senza character type.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8466BF8-031B-4F4E-9063-9175DF52F29E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E6E60EC-D6B0-4F4E-8C2D-1643E06D7ADE}"/>
              </a:ext>
            </a:extLst>
          </p:cNvPr>
          <p:cNvSpPr>
            <a:spLocks noGrp="1"/>
          </p:cNvSpPr>
          <p:nvPr/>
        </p:nvSpPr>
        <p:spPr>
          <a:xfrm>
            <a:off x="7086600" y="22669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UNION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F724F2E-31BD-4FB7-A6F4-8F8A03F4D41B}"/>
              </a:ext>
            </a:extLst>
          </p:cNvPr>
          <p:cNvSpPr>
            <a:spLocks noGrp="1"/>
          </p:cNvSpPr>
          <p:nvPr/>
        </p:nvSpPr>
        <p:spPr>
          <a:xfrm>
            <a:off x="7086600" y="262890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Confronto tra character type ufficiale e modellazioni indirette tramite P31.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38BC61B-DF78-4838-95A2-7C73F8895422}"/>
              </a:ext>
            </a:extLst>
          </p:cNvPr>
          <p:cNvSpPr>
            <a:spLocks noGrp="1"/>
          </p:cNvSpPr>
          <p:nvPr/>
        </p:nvSpPr>
        <p:spPr>
          <a:xfrm>
            <a:off x="6419850" y="34671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05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8AC9E42-5E8D-4961-9306-E532EA707497}"/>
              </a:ext>
            </a:extLst>
          </p:cNvPr>
          <p:cNvSpPr>
            <a:spLocks noGrp="1"/>
          </p:cNvSpPr>
          <p:nvPr/>
        </p:nvSpPr>
        <p:spPr>
          <a:xfrm>
            <a:off x="7086600" y="34671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LLM e controllo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760A1ED7-77F7-40EC-BA18-8ACA82C650AC}"/>
              </a:ext>
            </a:extLst>
          </p:cNvPr>
          <p:cNvSpPr>
            <a:spLocks noGrp="1"/>
          </p:cNvSpPr>
          <p:nvPr/>
        </p:nvSpPr>
        <p:spPr>
          <a:xfrm>
            <a:off x="7086600" y="382905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Gli output LLM propongono archetipi; il progetto li normalizza e li verifica.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311E80B-C0B3-427F-83A6-1A7B5693EFE5}"/>
              </a:ext>
            </a:extLst>
          </p:cNvPr>
          <p:cNvSpPr>
            <a:spLocks noGrp="1"/>
          </p:cNvSpPr>
          <p:nvPr/>
        </p:nvSpPr>
        <p:spPr>
          <a:xfrm>
            <a:off x="6419850" y="46672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06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ABE8B2B-6EB8-4F1B-9CC0-A254808B2026}"/>
              </a:ext>
            </a:extLst>
          </p:cNvPr>
          <p:cNvSpPr>
            <a:spLocks noGrp="1"/>
          </p:cNvSpPr>
          <p:nvPr/>
        </p:nvSpPr>
        <p:spPr>
          <a:xfrm>
            <a:off x="7086600" y="46672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RDF finale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1BF39833-343A-47FB-9736-6B178A85FC43}"/>
              </a:ext>
            </a:extLst>
          </p:cNvPr>
          <p:cNvSpPr>
            <a:spLocks noGrp="1"/>
          </p:cNvSpPr>
          <p:nvPr/>
        </p:nvSpPr>
        <p:spPr>
          <a:xfrm>
            <a:off x="7086600" y="5029200"/>
            <a:ext cx="4191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Solo le ipotesi solide diventano triple con QID riusati o risorse locali.</a:t>
            </a:r>
          </a:p>
        </p:txBody>
      </p:sp>
    </p:spTree>
    <p:extLst>
      <p:ext uri="{BB962C8B-B14F-4D97-AF65-F5344CB8AC3E}">
        <p14:creationId xmlns:p14="http://schemas.microsoft.com/office/powerpoint/2010/main" val="112354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C5DCC031-1144-4BA0-BD63-6C31E7F2A69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SPARQL: dalla label all'entita corretta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E8839A2-ABA9-475C-8EFA-5642D11446C1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Le prime query non assumono che il nome sia gia sufficiente: Naruto puo indicare manga, anime, franchise o altri item.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A4D6E70-3446-4122-A9DF-F37882BD3D4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40EE0E8-89B4-4B42-B1E1-F9D1BB43EF86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DE64CF2-B9F1-45FA-936D-01B3FF2E25BA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43500" cy="238125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56E8FC6-C52F-461A-8144-887BCED09D8E}"/>
              </a:ext>
            </a:extLst>
          </p:cNvPr>
          <p:cNvSpPr>
            <a:spLocks noGrp="1"/>
          </p:cNvSpPr>
          <p:nvPr/>
        </p:nvSpPr>
        <p:spPr>
          <a:xfrm>
            <a:off x="971550" y="2400300"/>
            <a:ext cx="45720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?item rdfs:label "Naruto"@en .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?item ?uriProprieta ?valore .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?proprieta wikibase:directClaim ?uriProprieta .</a:t>
            </a:r>
          </a:p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SERVICE wikibase:label { ... }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A1B6FFD-7C01-43D5-B230-49AD656A18D6}"/>
              </a:ext>
            </a:extLst>
          </p:cNvPr>
          <p:cNvSpPr>
            <a:spLocks noGrp="1"/>
          </p:cNvSpPr>
          <p:nvPr/>
        </p:nvSpPr>
        <p:spPr>
          <a:xfrm>
            <a:off x="6572250" y="2305050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777112A-E49C-41DD-91E5-7599436C93F8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4171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La query 1 costruisce il punto di partenza controllando label e descrizione.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A8232F2-B289-489F-95F6-70DDE26B28C2}"/>
              </a:ext>
            </a:extLst>
          </p:cNvPr>
          <p:cNvSpPr>
            <a:spLocks noGrp="1"/>
          </p:cNvSpPr>
          <p:nvPr/>
        </p:nvSpPr>
        <p:spPr>
          <a:xfrm>
            <a:off x="6572250" y="3086100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8E2F7ED-08C8-4DD9-AB8D-D5F77524C1E4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4171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Il conteggio delle proprieta aiuta a distinguere item molto ricchi da omonimi o nodi meno pertinenti.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FC55B4DC-E3DD-4E0A-AECF-932AA7555494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38DA039-1DC8-4AF0-A369-A6ECA8EAC8F6}"/>
              </a:ext>
            </a:extLst>
          </p:cNvPr>
          <p:cNvSpPr>
            <a:spLocks noGrp="1"/>
          </p:cNvSpPr>
          <p:nvPr/>
        </p:nvSpPr>
        <p:spPr>
          <a:xfrm>
            <a:off x="6877050" y="3810000"/>
            <a:ext cx="4171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Questo evita di far partire l'analisi da un'entita sbagliata.</a:t>
            </a:r>
          </a:p>
        </p:txBody>
      </p:sp>
    </p:spTree>
    <p:extLst>
      <p:ext uri="{BB962C8B-B14F-4D97-AF65-F5344CB8AC3E}">
        <p14:creationId xmlns:p14="http://schemas.microsoft.com/office/powerpoint/2010/main" val="3141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EF1677F-F3E8-4184-9C90-200A791A9BE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Analisi delle proprieta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F22558C-EE3D-419C-BE0E-069854FA5591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Le query successive mostrano che Wikidata e ricco di proprieta, ma non tutte descrivono la dimensione narrativa.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D09F48B-85DD-4F75-9E9F-73709FDF5A0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0297DCB-924D-4632-86C5-A203F71762C2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08</a:t>
            </a:r>
          </a:p>
        </p:txBody>
      </p:sp>
      <p:pic>
        <p:nvPicPr>
          <p:cNvPr id="18" name="Immagin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190" y="1962150"/>
            <a:ext cx="4471619" cy="371475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CE7B0C9A-8612-4803-B1B3-FE4027135FD9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4953000" cy="31432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AE7333C-39A4-429D-8A8E-B22A455F31B8}"/>
              </a:ext>
            </a:extLst>
          </p:cNvPr>
          <p:cNvSpPr>
            <a:spLocks noGrp="1"/>
          </p:cNvSpPr>
          <p:nvPr/>
        </p:nvSpPr>
        <p:spPr>
          <a:xfrm>
            <a:off x="6629400" y="2419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Cosa emerge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261AC68-C846-46F1-9414-F745A758D284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BCFB066-4394-4BDC-B2B6-2E522F189FF0}"/>
              </a:ext>
            </a:extLst>
          </p:cNvPr>
          <p:cNvSpPr>
            <a:spLocks noGrp="1"/>
          </p:cNvSpPr>
          <p:nvPr/>
        </p:nvSpPr>
        <p:spPr>
          <a:xfrm>
            <a:off x="6934200" y="3067050"/>
            <a:ext cx="3695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Molte proprieta descrivono opere, identificativi, edizioni o collegamenti.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928E030-8BE0-4192-97EE-E5DB091BE5F7}"/>
              </a:ext>
            </a:extLst>
          </p:cNvPr>
          <p:cNvSpPr>
            <a:spLocks noGrp="1"/>
          </p:cNvSpPr>
          <p:nvPr/>
        </p:nvSpPr>
        <p:spPr>
          <a:xfrm>
            <a:off x="6629400" y="384810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DD58D8-6F5F-4A7D-91CF-1D9852145491}"/>
              </a:ext>
            </a:extLst>
          </p:cNvPr>
          <p:cNvSpPr>
            <a:spLocks noGrp="1"/>
          </p:cNvSpPr>
          <p:nvPr/>
        </p:nvSpPr>
        <p:spPr>
          <a:xfrm>
            <a:off x="6934200" y="3790950"/>
            <a:ext cx="3695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P674 e utile per passare dall'opera ai personaggi.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70C6B9D-4B73-4E56-91B9-8611B4652AE2}"/>
              </a:ext>
            </a:extLst>
          </p:cNvPr>
          <p:cNvSpPr>
            <a:spLocks noGrp="1"/>
          </p:cNvSpPr>
          <p:nvPr/>
        </p:nvSpPr>
        <p:spPr>
          <a:xfrm>
            <a:off x="6629400" y="457200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1980EA8-2D14-41DE-AD9F-C69E41390925}"/>
              </a:ext>
            </a:extLst>
          </p:cNvPr>
          <p:cNvSpPr>
            <a:spLocks noGrp="1"/>
          </p:cNvSpPr>
          <p:nvPr/>
        </p:nvSpPr>
        <p:spPr>
          <a:xfrm>
            <a:off x="6934200" y="4514850"/>
            <a:ext cx="3695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La funzione narrativa resta meno presente e meno omogenea.</a:t>
            </a:r>
          </a:p>
        </p:txBody>
      </p:sp>
    </p:spTree>
    <p:extLst>
      <p:ext uri="{BB962C8B-B14F-4D97-AF65-F5344CB8AC3E}">
        <p14:creationId xmlns:p14="http://schemas.microsoft.com/office/powerpoint/2010/main" val="130334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69236377-41E7-4808-A584-6C01B20EE0C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Evidenza del gap: P9071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6F06CC6-DDDB-44AC-926F-1AC4AA024B4B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P9071 e la proprieta Wikidata pensata per registrare il character type, ma nel campione e scarsamente valorizzata.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6C2ADDB-B212-4D03-8676-23CC6F09ACED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15AB1BF-E8C1-4161-A961-E0B11134C632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CAE5687-1B90-4AC2-8C36-F244227BBAC2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2476500" cy="1447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5AB81CC-AE4E-4C4F-9007-F7E718020E1B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F172A"/>
                </a:solidFill>
              </a:defRPr>
            </a:pPr>
            <a:r>
              <a:rPr sz="3300" b="1" dirty="0">
                <a:solidFill>
                  <a:srgbClr val="0F172A"/>
                </a:solidFill>
              </a:rPr>
              <a:t>111</a:t>
            </a:r>
            <a:r>
              <a:rPr lang="it-IT" sz="3300" b="1" dirty="0">
                <a:solidFill>
                  <a:srgbClr val="0F172A"/>
                </a:solidFill>
              </a:rPr>
              <a:t>5</a:t>
            </a:r>
            <a:endParaRPr sz="3300" b="1" dirty="0">
              <a:solidFill>
                <a:srgbClr val="0F172A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E16E541-A8B4-4EE1-927F-F19CD8D10586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personaggi univoci nel campione corrente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C55D6D0-5572-47C8-A7B1-EC4C981B1E7D}"/>
              </a:ext>
            </a:extLst>
          </p:cNvPr>
          <p:cNvSpPr>
            <a:spLocks noGrp="1"/>
          </p:cNvSpPr>
          <p:nvPr/>
        </p:nvSpPr>
        <p:spPr>
          <a:xfrm>
            <a:off x="3714750" y="2190750"/>
            <a:ext cx="2476500" cy="1447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44566E9-CE8E-4599-98B6-DE15417C0E5F}"/>
              </a:ext>
            </a:extLst>
          </p:cNvPr>
          <p:cNvSpPr>
            <a:spLocks noGrp="1"/>
          </p:cNvSpPr>
          <p:nvPr/>
        </p:nvSpPr>
        <p:spPr>
          <a:xfrm>
            <a:off x="3905250" y="23812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F43F5E"/>
                </a:solidFill>
              </a:defRPr>
            </a:pPr>
            <a:r>
              <a:rPr lang="it-IT" sz="3300" b="1" dirty="0">
                <a:solidFill>
                  <a:srgbClr val="F43F5E"/>
                </a:solidFill>
              </a:rPr>
              <a:t>8</a:t>
            </a:r>
            <a:endParaRPr sz="3300" b="1" dirty="0">
              <a:solidFill>
                <a:srgbClr val="F43F5E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A2B8B21-B954-4D13-BE38-C3E90D2BAF7E}"/>
              </a:ext>
            </a:extLst>
          </p:cNvPr>
          <p:cNvSpPr>
            <a:spLocks noGrp="1"/>
          </p:cNvSpPr>
          <p:nvPr/>
        </p:nvSpPr>
        <p:spPr>
          <a:xfrm>
            <a:off x="3905250" y="29718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personaggi univoci con character type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A334383-E827-414E-AF12-3399FCE2C446}"/>
              </a:ext>
            </a:extLst>
          </p:cNvPr>
          <p:cNvSpPr>
            <a:spLocks noGrp="1"/>
          </p:cNvSpPr>
          <p:nvPr/>
        </p:nvSpPr>
        <p:spPr>
          <a:xfrm>
            <a:off x="6591300" y="2190750"/>
            <a:ext cx="2476500" cy="1447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C9DB0CD-C8CE-45EF-BC30-F4D82A9A8E80}"/>
              </a:ext>
            </a:extLst>
          </p:cNvPr>
          <p:cNvSpPr>
            <a:spLocks noGrp="1"/>
          </p:cNvSpPr>
          <p:nvPr/>
        </p:nvSpPr>
        <p:spPr>
          <a:xfrm>
            <a:off x="6781800" y="23812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38BDF8"/>
                </a:solidFill>
              </a:defRPr>
            </a:pPr>
            <a:r>
              <a:rPr sz="3300" b="1">
                <a:solidFill>
                  <a:srgbClr val="38BDF8"/>
                </a:solidFill>
              </a:rPr>
              <a:t>1107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5D3B95B-8B8D-4482-9028-94A50254E14A}"/>
              </a:ext>
            </a:extLst>
          </p:cNvPr>
          <p:cNvSpPr>
            <a:spLocks noGrp="1"/>
          </p:cNvSpPr>
          <p:nvPr/>
        </p:nvSpPr>
        <p:spPr>
          <a:xfrm>
            <a:off x="6781800" y="29718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personaggi senza character type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F47A0F9-FC2E-4962-A678-A9863B2B63AD}"/>
              </a:ext>
            </a:extLst>
          </p:cNvPr>
          <p:cNvSpPr>
            <a:spLocks noGrp="1"/>
          </p:cNvSpPr>
          <p:nvPr/>
        </p:nvSpPr>
        <p:spPr>
          <a:xfrm>
            <a:off x="9467850" y="2190750"/>
            <a:ext cx="1809750" cy="1447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D37EC1E-3752-436C-B670-EDE76BAA0F11}"/>
              </a:ext>
            </a:extLst>
          </p:cNvPr>
          <p:cNvSpPr>
            <a:spLocks noGrp="1"/>
          </p:cNvSpPr>
          <p:nvPr/>
        </p:nvSpPr>
        <p:spPr>
          <a:xfrm>
            <a:off x="9658350" y="2381250"/>
            <a:ext cx="1428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22C55E"/>
                </a:solidFill>
              </a:defRPr>
            </a:pPr>
            <a:r>
              <a:rPr sz="3300" b="1">
                <a:solidFill>
                  <a:srgbClr val="22C55E"/>
                </a:solidFill>
              </a:rPr>
              <a:t>4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3B0E752-95DB-4370-9F0A-4E6E180A902C}"/>
              </a:ext>
            </a:extLst>
          </p:cNvPr>
          <p:cNvSpPr>
            <a:spLocks noGrp="1"/>
          </p:cNvSpPr>
          <p:nvPr/>
        </p:nvSpPr>
        <p:spPr>
          <a:xfrm>
            <a:off x="9658350" y="2971800"/>
            <a:ext cx="1428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etichette di tipo emerse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4383F48-79A5-49F9-8DAB-B201CB47D6E7}"/>
              </a:ext>
            </a:extLst>
          </p:cNvPr>
          <p:cNvSpPr>
            <a:spLocks noGrp="1"/>
          </p:cNvSpPr>
          <p:nvPr/>
        </p:nvSpPr>
        <p:spPr>
          <a:xfrm>
            <a:off x="1619250" y="4762500"/>
            <a:ext cx="8953500" cy="85725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DAE9219-FDB9-4985-9820-B44B067ED0C8}"/>
              </a:ext>
            </a:extLst>
          </p:cNvPr>
          <p:cNvSpPr>
            <a:spLocks noGrp="1"/>
          </p:cNvSpPr>
          <p:nvPr/>
        </p:nvSpPr>
        <p:spPr>
          <a:xfrm>
            <a:off x="1962150" y="49911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Interpretazione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8413AC2-43C9-4E75-BB0E-131407155EC3}"/>
              </a:ext>
            </a:extLst>
          </p:cNvPr>
          <p:cNvSpPr>
            <a:spLocks noGrp="1"/>
          </p:cNvSpPr>
          <p:nvPr/>
        </p:nvSpPr>
        <p:spPr>
          <a:xfrm>
            <a:off x="3905250" y="4953000"/>
            <a:ext cx="590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Il gap non riguarda pochi casi isolati: quasi tutto il campione resta privo di una classificazione narrativa esplicita.</a:t>
            </a:r>
          </a:p>
        </p:txBody>
      </p:sp>
    </p:spTree>
    <p:extLst>
      <p:ext uri="{BB962C8B-B14F-4D97-AF65-F5344CB8AC3E}">
        <p14:creationId xmlns:p14="http://schemas.microsoft.com/office/powerpoint/2010/main" val="144339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3D91781-16DD-4262-A9B4-F521FADC77B1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Quantificare la copertura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27C26EC-E6B3-4637-9BE5-FBB5076B961B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La Query 8 attuale rende visibile la sproporzione tra personaggi valorizzati e non valorizzati.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7903F24-D143-43A2-BD2B-E1F6495BDAA7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E3CBB13-EFAC-480E-AB65-0FFD3A76E68E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10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85800" y="2095500"/>
          <a:ext cx="59055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tangolo 5">
            <a:extLst>
              <a:ext uri="{FF2B5EF4-FFF2-40B4-BE49-F238E27FC236}">
                <a16:creationId xmlns:a16="http://schemas.microsoft.com/office/drawing/2014/main" id="{75FFB620-2A39-4944-913B-357F45763883}"/>
              </a:ext>
            </a:extLst>
          </p:cNvPr>
          <p:cNvSpPr>
            <a:spLocks noGrp="1"/>
          </p:cNvSpPr>
          <p:nvPr/>
        </p:nvSpPr>
        <p:spPr>
          <a:xfrm>
            <a:off x="7239000" y="2362200"/>
            <a:ext cx="3810000" cy="24003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E150E74-F9C4-4CBC-8C06-CE4191284F44}"/>
              </a:ext>
            </a:extLst>
          </p:cNvPr>
          <p:cNvSpPr>
            <a:spLocks noGrp="1"/>
          </p:cNvSpPr>
          <p:nvPr/>
        </p:nvSpPr>
        <p:spPr>
          <a:xfrm>
            <a:off x="7562850" y="26860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Lettura del dato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7D7CDCE-A64F-434F-9A5C-3A1E958493E7}"/>
              </a:ext>
            </a:extLst>
          </p:cNvPr>
          <p:cNvSpPr>
            <a:spLocks noGrp="1"/>
          </p:cNvSpPr>
          <p:nvPr/>
        </p:nvSpPr>
        <p:spPr>
          <a:xfrm>
            <a:off x="7562850" y="3295650"/>
            <a:ext cx="2952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Il dato non dice che gli archetipi non esistono nella lettura narrativa; dice che non sono rappresentati in modo strutturato e interrogabile su Wikidata.</a:t>
            </a:r>
          </a:p>
        </p:txBody>
      </p:sp>
    </p:spTree>
    <p:extLst>
      <p:ext uri="{BB962C8B-B14F-4D97-AF65-F5344CB8AC3E}">
        <p14:creationId xmlns:p14="http://schemas.microsoft.com/office/powerpoint/2010/main" val="1170887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C1AB36DB-DBCB-427F-B78E-2CA2D1A60AB2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Che cos'e uno stock character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A4726F4-1577-4EFC-8ABA-D04874EBFBA1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Uno stock character e un tipo narrativo ricorrente: un modello di personaggio riconoscibile oltre la singola opera.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0DE02E31-04E8-4015-AE4B-9E0849D27DCC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3F2218A-B609-4ECB-831C-E0D020EE3031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55E31AB-4042-472D-86C5-E7E20FECE16F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3143250" cy="25717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105A4D3-1FA0-475F-83C3-4D89D5564AA3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Esempi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24C9C3F-86D1-4F30-BA6C-AFBA748D173B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8FAD85-3E5B-4747-A88D-56899B585545}"/>
              </a:ext>
            </a:extLst>
          </p:cNvPr>
          <p:cNvSpPr>
            <a:spLocks noGrp="1"/>
          </p:cNvSpPr>
          <p:nvPr/>
        </p:nvSpPr>
        <p:spPr>
          <a:xfrm>
            <a:off x="1333500" y="3028950"/>
            <a:ext cx="1885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villain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D0DAF98-42C3-40FB-B32D-06A50D157152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9993739-327D-49C2-89C1-A240A612D2EA}"/>
              </a:ext>
            </a:extLst>
          </p:cNvPr>
          <p:cNvSpPr>
            <a:spLocks noGrp="1"/>
          </p:cNvSpPr>
          <p:nvPr/>
        </p:nvSpPr>
        <p:spPr>
          <a:xfrm>
            <a:off x="1333500" y="3457575"/>
            <a:ext cx="1885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antihero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4D5C919-DFB6-46DA-95E2-D44310B244B9}"/>
              </a:ext>
            </a:extLst>
          </p:cNvPr>
          <p:cNvSpPr>
            <a:spLocks noGrp="1"/>
          </p:cNvSpPr>
          <p:nvPr/>
        </p:nvSpPr>
        <p:spPr>
          <a:xfrm>
            <a:off x="1028700" y="3943350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CC9E8706-6CDF-4EAC-85F5-327E81FDEA2E}"/>
              </a:ext>
            </a:extLst>
          </p:cNvPr>
          <p:cNvSpPr>
            <a:spLocks noGrp="1"/>
          </p:cNvSpPr>
          <p:nvPr/>
        </p:nvSpPr>
        <p:spPr>
          <a:xfrm>
            <a:off x="1333500" y="3886200"/>
            <a:ext cx="1885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tragic hero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8F39C50-B112-4C51-A10A-36A7F6E14709}"/>
              </a:ext>
            </a:extLst>
          </p:cNvPr>
          <p:cNvSpPr>
            <a:spLocks noGrp="1"/>
          </p:cNvSpPr>
          <p:nvPr/>
        </p:nvSpPr>
        <p:spPr>
          <a:xfrm>
            <a:off x="1028700" y="4371975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32444AB-E544-4D12-9B6B-C223AD3F5305}"/>
              </a:ext>
            </a:extLst>
          </p:cNvPr>
          <p:cNvSpPr>
            <a:spLocks noGrp="1"/>
          </p:cNvSpPr>
          <p:nvPr/>
        </p:nvSpPr>
        <p:spPr>
          <a:xfrm>
            <a:off x="1333500" y="4314825"/>
            <a:ext cx="1885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chosen one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E3EF308-718C-4955-B146-00EE2F3FC6FB}"/>
              </a:ext>
            </a:extLst>
          </p:cNvPr>
          <p:cNvSpPr>
            <a:spLocks noGrp="1"/>
          </p:cNvSpPr>
          <p:nvPr/>
        </p:nvSpPr>
        <p:spPr>
          <a:xfrm>
            <a:off x="4514850" y="2076450"/>
            <a:ext cx="3143250" cy="25717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C1B021B-4C4D-4AA3-86C5-ED7C79E50374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A cosa serve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5316379-4722-4A9F-8026-0ED1913CD8BF}"/>
              </a:ext>
            </a:extLst>
          </p:cNvPr>
          <p:cNvSpPr>
            <a:spLocks noGrp="1"/>
          </p:cNvSpPr>
          <p:nvPr/>
        </p:nvSpPr>
        <p:spPr>
          <a:xfrm>
            <a:off x="4857750" y="3028950"/>
            <a:ext cx="2286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Consente di descrivere la funzione narrativa, non solo l'esistenza del personaggio o l'opera in cui compare.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0EE4DBB-2542-4825-913C-538EC4DCB856}"/>
              </a:ext>
            </a:extLst>
          </p:cNvPr>
          <p:cNvSpPr>
            <a:spLocks noGrp="1"/>
          </p:cNvSpPr>
          <p:nvPr/>
        </p:nvSpPr>
        <p:spPr>
          <a:xfrm>
            <a:off x="8343900" y="2076450"/>
            <a:ext cx="3143250" cy="25717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676D2E6-C439-405E-AA7F-83384E7F3C68}"/>
              </a:ext>
            </a:extLst>
          </p:cNvPr>
          <p:cNvSpPr>
            <a:spLocks noGrp="1"/>
          </p:cNvSpPr>
          <p:nvPr/>
        </p:nvSpPr>
        <p:spPr>
          <a:xfrm>
            <a:off x="8686800" y="2381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Nel progetto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414E384-E038-4DC5-B68E-B35DDBC99D2D}"/>
              </a:ext>
            </a:extLst>
          </p:cNvPr>
          <p:cNvSpPr>
            <a:spLocks noGrp="1"/>
          </p:cNvSpPr>
          <p:nvPr/>
        </p:nvSpPr>
        <p:spPr>
          <a:xfrm>
            <a:off x="8686800" y="3028950"/>
            <a:ext cx="2286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Se l'archetipo generale esiste in Wikidata lo riusiamo; se non esiste, creiamo una risorsa locale.</a:t>
            </a:r>
          </a:p>
        </p:txBody>
      </p:sp>
    </p:spTree>
    <p:extLst>
      <p:ext uri="{BB962C8B-B14F-4D97-AF65-F5344CB8AC3E}">
        <p14:creationId xmlns:p14="http://schemas.microsoft.com/office/powerpoint/2010/main" val="466706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746369B4-B486-4CCE-8648-A171EA17832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UNION: due percorsi per lo stesso problema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6056593-C961-4C57-A822-83BE89C7758F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La query 9 confronta la modellazione ufficiale con una modellazione indiretta basata su P31.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64CF9240-917D-40CC-9B93-A8D410FAFE5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581915F-E623-4046-90F7-FFC85C16F08E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B56BF82-16D9-433A-9965-168818A2827E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4552950" cy="23812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837CAC1-2FDE-4B75-8074-D258A2D1F1B5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Percorso ufficiale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6096A0B-46C4-48E6-B8A3-0892BBF28BEF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F43F5E"/>
                </a:solidFill>
              </a:defRPr>
            </a:pPr>
            <a:r>
              <a:rPr sz="2025" b="0">
                <a:solidFill>
                  <a:srgbClr val="F43F5E"/>
                </a:solidFill>
              </a:rPr>
              <a:t>?personaggio</a:t>
            </a:r>
          </a:p>
          <a:p>
            <a:pPr algn="l">
              <a:defRPr sz="2025" b="0">
                <a:solidFill>
                  <a:srgbClr val="F43F5E"/>
                </a:solidFill>
              </a:defRPr>
            </a:pPr>
            <a:r>
              <a:rPr sz="2025" b="0">
                <a:solidFill>
                  <a:srgbClr val="F43F5E"/>
                </a:solidFill>
              </a:rPr>
              <a:t>  wdt:P9071 ?tipo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E095309-D302-4962-A68B-B1AEF0F08CF6}"/>
              </a:ext>
            </a:extLst>
          </p:cNvPr>
          <p:cNvSpPr>
            <a:spLocks noGrp="1"/>
          </p:cNvSpPr>
          <p:nvPr/>
        </p:nvSpPr>
        <p:spPr>
          <a:xfrm>
            <a:off x="990600" y="39243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Il character type e dichiarato direttamente.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AC7327-4A81-4028-BFA2-4294C00E29E3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4552950" cy="23812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D0836B-6E49-4230-8BAE-FCB36C80A93E}"/>
              </a:ext>
            </a:extLst>
          </p:cNvPr>
          <p:cNvSpPr>
            <a:spLocks noGrp="1"/>
          </p:cNvSpPr>
          <p:nvPr/>
        </p:nvSpPr>
        <p:spPr>
          <a:xfrm>
            <a:off x="7334250" y="24003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Percorso indiretto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C4C5B9F-1FB6-46CD-A932-DB2F158FEA35}"/>
              </a:ext>
            </a:extLst>
          </p:cNvPr>
          <p:cNvSpPr>
            <a:spLocks noGrp="1"/>
          </p:cNvSpPr>
          <p:nvPr/>
        </p:nvSpPr>
        <p:spPr>
          <a:xfrm>
            <a:off x="7334250" y="3009900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38BDF8"/>
                </a:solidFill>
              </a:defRPr>
            </a:pPr>
            <a:r>
              <a:rPr sz="2025" b="0">
                <a:solidFill>
                  <a:srgbClr val="38BDF8"/>
                </a:solidFill>
              </a:rPr>
              <a:t>?personaggio</a:t>
            </a:r>
          </a:p>
          <a:p>
            <a:pPr algn="l">
              <a:defRPr sz="2025" b="0">
                <a:solidFill>
                  <a:srgbClr val="38BDF8"/>
                </a:solidFill>
              </a:defRPr>
            </a:pPr>
            <a:r>
              <a:rPr sz="2025" b="0">
                <a:solidFill>
                  <a:srgbClr val="38BDF8"/>
                </a:solidFill>
              </a:rPr>
              <a:t>  wdt:P31 ?stockCharacter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779CEDA-3720-4FD0-8483-9C3DD8EDB7CB}"/>
              </a:ext>
            </a:extLst>
          </p:cNvPr>
          <p:cNvSpPr>
            <a:spLocks noGrp="1"/>
          </p:cNvSpPr>
          <p:nvPr/>
        </p:nvSpPr>
        <p:spPr>
          <a:xfrm>
            <a:off x="7334250" y="392430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Il personaggio e istanza di un archetipo gia esistente.</a:t>
            </a:r>
          </a:p>
        </p:txBody>
      </p:sp>
      <p:sp>
        <p:nvSpPr>
          <p:cNvPr id="13" name="Connettore dritto 12">
            <a:extLst>
              <a:ext uri="{FF2B5EF4-FFF2-40B4-BE49-F238E27FC236}">
                <a16:creationId xmlns:a16="http://schemas.microsoft.com/office/drawing/2014/main" id="{C2858FEC-F712-499A-8E37-04F30E01174A}"/>
              </a:ext>
            </a:extLst>
          </p:cNvPr>
          <p:cNvSpPr>
            <a:spLocks noGrp="1"/>
          </p:cNvSpPr>
          <p:nvPr/>
        </p:nvSpPr>
        <p:spPr>
          <a:xfrm>
            <a:off x="5238750" y="3276600"/>
            <a:ext cx="169545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75C6526-52F3-46C8-B0C4-9AA5FA9D1AE1}"/>
              </a:ext>
            </a:extLst>
          </p:cNvPr>
          <p:cNvSpPr>
            <a:spLocks noGrp="1"/>
          </p:cNvSpPr>
          <p:nvPr/>
        </p:nvSpPr>
        <p:spPr>
          <a:xfrm>
            <a:off x="5486400" y="2924175"/>
            <a:ext cx="1181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UNION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E30DA65-31B5-4B46-8EAB-B7124AB57977}"/>
              </a:ext>
            </a:extLst>
          </p:cNvPr>
          <p:cNvSpPr>
            <a:spLocks noGrp="1"/>
          </p:cNvSpPr>
          <p:nvPr/>
        </p:nvSpPr>
        <p:spPr>
          <a:xfrm>
            <a:off x="2266950" y="4914900"/>
            <a:ext cx="7658100" cy="80010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D4EF7C7-7EFB-414E-ADEF-5322721B0303}"/>
              </a:ext>
            </a:extLst>
          </p:cNvPr>
          <p:cNvSpPr>
            <a:spLocks noGrp="1"/>
          </p:cNvSpPr>
          <p:nvPr/>
        </p:nvSpPr>
        <p:spPr>
          <a:xfrm>
            <a:off x="2590800" y="5162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Risultato metodologico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D7353C8-D980-4B75-95FE-D6B73CA207BE}"/>
              </a:ext>
            </a:extLst>
          </p:cNvPr>
          <p:cNvSpPr>
            <a:spLocks noGrp="1"/>
          </p:cNvSpPr>
          <p:nvPr/>
        </p:nvSpPr>
        <p:spPr>
          <a:xfrm>
            <a:off x="5143500" y="51054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Il gap e anche un problema di modellazione frammentata.</a:t>
            </a:r>
          </a:p>
        </p:txBody>
      </p:sp>
    </p:spTree>
    <p:extLst>
      <p:ext uri="{BB962C8B-B14F-4D97-AF65-F5344CB8AC3E}">
        <p14:creationId xmlns:p14="http://schemas.microsoft.com/office/powerpoint/2010/main" val="191018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846A7DA8-9709-4AE1-8E3C-0F6DB86ADA94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LLM come strumenti di proposta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BFD2E29D-057E-4C9B-98F0-61AE8669BF90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Gli LLM non sono trattati come fonte definitiva: servono a generare ipotesi narrative da sottoporre a controllo.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38E7B52-DF5A-4F0F-A49D-6C682EB8346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E9D762E-DD23-4AAD-AE06-0115248026BC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99B3395-31AC-4459-A3D1-C8DD560823FF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3238500" cy="2457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E247A4E-E2EF-4C12-838B-2FE316693107}"/>
              </a:ext>
            </a:extLst>
          </p:cNvPr>
          <p:cNvSpPr>
            <a:spLocks noGrp="1"/>
          </p:cNvSpPr>
          <p:nvPr/>
        </p:nvSpPr>
        <p:spPr>
          <a:xfrm>
            <a:off x="838200" y="2552700"/>
            <a:ext cx="152400" cy="1524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3BC1DA4-A3C7-4A9D-AA15-D932746607D1}"/>
              </a:ext>
            </a:extLst>
          </p:cNvPr>
          <p:cNvSpPr>
            <a:spLocks noGrp="1"/>
          </p:cNvSpPr>
          <p:nvPr/>
        </p:nvSpPr>
        <p:spPr>
          <a:xfrm>
            <a:off x="1162050" y="24193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Zero-shot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74D7822-DA27-47CC-9CA1-49CAA09244B1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266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Produce rapidamente etichette, ma spesso con granularita instabile.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82CADBD-31BD-4A64-992A-8A6027BBF98E}"/>
              </a:ext>
            </a:extLst>
          </p:cNvPr>
          <p:cNvSpPr>
            <a:spLocks noGrp="1"/>
          </p:cNvSpPr>
          <p:nvPr/>
        </p:nvSpPr>
        <p:spPr>
          <a:xfrm>
            <a:off x="4381500" y="2247900"/>
            <a:ext cx="3238500" cy="24574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9E805A4-D00E-470F-9991-B821D80258EA}"/>
              </a:ext>
            </a:extLst>
          </p:cNvPr>
          <p:cNvSpPr>
            <a:spLocks noGrp="1"/>
          </p:cNvSpPr>
          <p:nvPr/>
        </p:nvSpPr>
        <p:spPr>
          <a:xfrm>
            <a:off x="4648200" y="2552700"/>
            <a:ext cx="152400" cy="15240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3B5FEB8-A557-4A61-B6BC-C1745EAFEE75}"/>
              </a:ext>
            </a:extLst>
          </p:cNvPr>
          <p:cNvSpPr>
            <a:spLocks noGrp="1"/>
          </p:cNvSpPr>
          <p:nvPr/>
        </p:nvSpPr>
        <p:spPr>
          <a:xfrm>
            <a:off x="4972050" y="24193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Few-shot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A45D43F-88A4-4BB4-A2D9-F2DF7B898CED}"/>
              </a:ext>
            </a:extLst>
          </p:cNvPr>
          <p:cNvSpPr>
            <a:spLocks noGrp="1"/>
          </p:cNvSpPr>
          <p:nvPr/>
        </p:nvSpPr>
        <p:spPr>
          <a:xfrm>
            <a:off x="4648200" y="3105150"/>
            <a:ext cx="266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Rende piu coerente il formato, ma gli esempi possono orientare troppo la risposta.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4E3CF50-DB47-4842-A7EB-23CF6CA2BBBD}"/>
              </a:ext>
            </a:extLst>
          </p:cNvPr>
          <p:cNvSpPr>
            <a:spLocks noGrp="1"/>
          </p:cNvSpPr>
          <p:nvPr/>
        </p:nvSpPr>
        <p:spPr>
          <a:xfrm>
            <a:off x="8191500" y="2247900"/>
            <a:ext cx="3238500" cy="24574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5CA0D28-3967-452D-8CDF-595DD9D86C1E}"/>
              </a:ext>
            </a:extLst>
          </p:cNvPr>
          <p:cNvSpPr>
            <a:spLocks noGrp="1"/>
          </p:cNvSpPr>
          <p:nvPr/>
        </p:nvSpPr>
        <p:spPr>
          <a:xfrm>
            <a:off x="8458200" y="2552700"/>
            <a:ext cx="152400" cy="1524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FA9678A-B1F3-4B8D-9D04-05F119BD507F}"/>
              </a:ext>
            </a:extLst>
          </p:cNvPr>
          <p:cNvSpPr>
            <a:spLocks noGrp="1"/>
          </p:cNvSpPr>
          <p:nvPr/>
        </p:nvSpPr>
        <p:spPr>
          <a:xfrm>
            <a:off x="8782050" y="24193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Zero-shot CoT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3B127ED-C96F-44D0-8117-26C93CB57AC5}"/>
              </a:ext>
            </a:extLst>
          </p:cNvPr>
          <p:cNvSpPr>
            <a:spLocks noGrp="1"/>
          </p:cNvSpPr>
          <p:nvPr/>
        </p:nvSpPr>
        <p:spPr>
          <a:xfrm>
            <a:off x="8458200" y="3105150"/>
            <a:ext cx="266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Esplicita meglio la motivazione e aiuta nei casi ambigui.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9074736-1ECE-4C97-A83A-B417AFF01DED}"/>
              </a:ext>
            </a:extLst>
          </p:cNvPr>
          <p:cNvSpPr>
            <a:spLocks noGrp="1"/>
          </p:cNvSpPr>
          <p:nvPr/>
        </p:nvSpPr>
        <p:spPr>
          <a:xfrm>
            <a:off x="1352550" y="5391150"/>
            <a:ext cx="948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rPr lang="it-IT" b="1" dirty="0">
                <a:solidFill>
                  <a:srgbClr val="0F172A"/>
                </a:solidFill>
              </a:rPr>
              <a:t>Scelta metodologica: output testuale motivato → normalizzazione umana → controllo SPARQL → RDF.</a:t>
            </a:r>
          </a:p>
        </p:txBody>
      </p:sp>
    </p:spTree>
    <p:extLst>
      <p:ext uri="{BB962C8B-B14F-4D97-AF65-F5344CB8AC3E}">
        <p14:creationId xmlns:p14="http://schemas.microsoft.com/office/powerpoint/2010/main" val="1391582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tangolo 19">
            <a:extLst>
              <a:ext uri="{FF2B5EF4-FFF2-40B4-BE49-F238E27FC236}">
                <a16:creationId xmlns:a16="http://schemas.microsoft.com/office/drawing/2014/main" id="{039FE241-3B2E-4400-B430-0E5161506DDC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Da output LLM a QID verificato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5F1FF67-0313-4D32-807E-1E443D149A75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La riconciliazione controlla che l'archetipo proposto abbia un item Wikidata coerente.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8B49F2F-8645-4B19-9A78-EDFE7D126DE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82EE2A4-BA26-463C-A4F5-6F6BDD024FE0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FE2619E-B49C-491F-9056-53ED58821C1E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5334000" cy="219075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972FDA3-8464-46B2-ADF0-0C87C0D1697B}"/>
              </a:ext>
            </a:extLst>
          </p:cNvPr>
          <p:cNvSpPr>
            <a:spLocks noGrp="1"/>
          </p:cNvSpPr>
          <p:nvPr/>
        </p:nvSpPr>
        <p:spPr>
          <a:xfrm>
            <a:off x="1009650" y="2419350"/>
            <a:ext cx="47625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FILTER(REGEX(STR(?itemLabel), "^tragic hero$", "i"))</a:t>
            </a:r>
          </a:p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?item wdt:P31 wd:Q636497 .</a:t>
            </a:r>
          </a:p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OPTIONAL { ?item schema:description ?description }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84D58F1-733F-4872-9FD4-0CB90B5E5DD3}"/>
              </a:ext>
            </a:extLst>
          </p:cNvPr>
          <p:cNvSpPr>
            <a:spLocks noGrp="1"/>
          </p:cNvSpPr>
          <p:nvPr/>
        </p:nvSpPr>
        <p:spPr>
          <a:xfrm>
            <a:off x="6762749" y="2152650"/>
            <a:ext cx="4098083" cy="26479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97ACF0-B4C8-4029-A50B-4F48527D4306}"/>
              </a:ext>
            </a:extLst>
          </p:cNvPr>
          <p:cNvSpPr>
            <a:spLocks noGrp="1"/>
          </p:cNvSpPr>
          <p:nvPr/>
        </p:nvSpPr>
        <p:spPr>
          <a:xfrm>
            <a:off x="7086600" y="24574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Criteri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BDD4B8C-9405-4F08-9D36-C1C76C1B2F9A}"/>
              </a:ext>
            </a:extLst>
          </p:cNvPr>
          <p:cNvSpPr>
            <a:spLocks noGrp="1"/>
          </p:cNvSpPr>
          <p:nvPr/>
        </p:nvSpPr>
        <p:spPr>
          <a:xfrm>
            <a:off x="7086600" y="3124200"/>
            <a:ext cx="152400" cy="1524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FC155E3-133C-4275-B435-5A9984F2DE82}"/>
              </a:ext>
            </a:extLst>
          </p:cNvPr>
          <p:cNvSpPr>
            <a:spLocks noGrp="1"/>
          </p:cNvSpPr>
          <p:nvPr/>
        </p:nvSpPr>
        <p:spPr>
          <a:xfrm>
            <a:off x="7391400" y="30670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label coerente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8920270-EB52-4F22-9192-C5A626AFD81B}"/>
              </a:ext>
            </a:extLst>
          </p:cNvPr>
          <p:cNvSpPr>
            <a:spLocks noGrp="1"/>
          </p:cNvSpPr>
          <p:nvPr/>
        </p:nvSpPr>
        <p:spPr>
          <a:xfrm>
            <a:off x="7086600" y="3562350"/>
            <a:ext cx="152400" cy="1524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A2092609-E20F-4321-80ED-4DB1BDF8830B}"/>
              </a:ext>
            </a:extLst>
          </p:cNvPr>
          <p:cNvSpPr>
            <a:spLocks noGrp="1"/>
          </p:cNvSpPr>
          <p:nvPr/>
        </p:nvSpPr>
        <p:spPr>
          <a:xfrm>
            <a:off x="7391400" y="350520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descrizione compatibile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C0B48CB-C400-4B1F-AC8E-5E549A3C2EA7}"/>
              </a:ext>
            </a:extLst>
          </p:cNvPr>
          <p:cNvSpPr>
            <a:spLocks noGrp="1"/>
          </p:cNvSpPr>
          <p:nvPr/>
        </p:nvSpPr>
        <p:spPr>
          <a:xfrm>
            <a:off x="7086600" y="4000500"/>
            <a:ext cx="152400" cy="1524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C72BF77-0219-472E-83F0-634B70B91B0B}"/>
              </a:ext>
            </a:extLst>
          </p:cNvPr>
          <p:cNvSpPr>
            <a:spLocks noGrp="1"/>
          </p:cNvSpPr>
          <p:nvPr/>
        </p:nvSpPr>
        <p:spPr>
          <a:xfrm>
            <a:off x="7391400" y="394335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 dirty="0" err="1">
                <a:solidFill>
                  <a:srgbClr val="0F172A"/>
                </a:solidFill>
              </a:rPr>
              <a:t>classe</a:t>
            </a:r>
            <a:r>
              <a:rPr sz="1575" b="0" dirty="0">
                <a:solidFill>
                  <a:srgbClr val="0F172A"/>
                </a:solidFill>
              </a:rPr>
              <a:t> </a:t>
            </a:r>
            <a:r>
              <a:rPr sz="1575" b="0" dirty="0" err="1">
                <a:solidFill>
                  <a:srgbClr val="0F172A"/>
                </a:solidFill>
              </a:rPr>
              <a:t>Wikidata</a:t>
            </a:r>
            <a:r>
              <a:rPr sz="1575" b="0" dirty="0">
                <a:solidFill>
                  <a:srgbClr val="0F172A"/>
                </a:solidFill>
              </a:rPr>
              <a:t> </a:t>
            </a:r>
            <a:r>
              <a:rPr sz="1575" b="0" dirty="0" err="1">
                <a:solidFill>
                  <a:srgbClr val="0F172A"/>
                </a:solidFill>
              </a:rPr>
              <a:t>corretta</a:t>
            </a:r>
            <a:endParaRPr sz="1575" b="0" dirty="0">
              <a:solidFill>
                <a:srgbClr val="0F172A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9AA39520-7081-4ED7-9457-1B7B72DF6990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152400" cy="15240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00474281-79D4-4750-9D6F-FE75581B16F4}"/>
              </a:ext>
            </a:extLst>
          </p:cNvPr>
          <p:cNvSpPr>
            <a:spLocks noGrp="1"/>
          </p:cNvSpPr>
          <p:nvPr/>
        </p:nvSpPr>
        <p:spPr>
          <a:xfrm>
            <a:off x="7391400" y="438150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riuso solo se il QID e stabile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B7FCB24-227F-435B-9BB4-601B62D777D0}"/>
              </a:ext>
            </a:extLst>
          </p:cNvPr>
          <p:cNvSpPr>
            <a:spLocks noGrp="1"/>
          </p:cNvSpPr>
          <p:nvPr/>
        </p:nvSpPr>
        <p:spPr>
          <a:xfrm>
            <a:off x="2000250" y="5029200"/>
            <a:ext cx="8191500" cy="83820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F9EFCC0-D146-43B4-BD8D-903973EF0397}"/>
              </a:ext>
            </a:extLst>
          </p:cNvPr>
          <p:cNvSpPr>
            <a:spLocks noGrp="1"/>
          </p:cNvSpPr>
          <p:nvPr/>
        </p:nvSpPr>
        <p:spPr>
          <a:xfrm>
            <a:off x="2324100" y="52101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Esempio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059EE19-FFA5-4ED4-B569-1593BFF4133C}"/>
              </a:ext>
            </a:extLst>
          </p:cNvPr>
          <p:cNvSpPr>
            <a:spLocks noGrp="1"/>
          </p:cNvSpPr>
          <p:nvPr/>
        </p:nvSpPr>
        <p:spPr>
          <a:xfrm>
            <a:off x="3733800" y="5200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tragic hero viene accettato come archetipo generale riusabile da Wikidata.</a:t>
            </a:r>
          </a:p>
        </p:txBody>
      </p:sp>
    </p:spTree>
    <p:extLst>
      <p:ext uri="{BB962C8B-B14F-4D97-AF65-F5344CB8AC3E}">
        <p14:creationId xmlns:p14="http://schemas.microsoft.com/office/powerpoint/2010/main" val="1487396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tangolo 11">
            <a:extLst>
              <a:ext uri="{FF2B5EF4-FFF2-40B4-BE49-F238E27FC236}">
                <a16:creationId xmlns:a16="http://schemas.microsoft.com/office/drawing/2014/main" id="{CAA85C25-12E1-4580-8AA8-968900C80AE6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Archetipo generale e archetipo giapponese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E8C4C2F-1CBF-4505-9265-42123F9D9D75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Dopo aver verificato gli output degli LLM, il progetto inserisce sia un archetipo generale sia uno specifico del contesto giapponese.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16BDFE5-2DA5-46BB-AC9B-3EC801AB07CC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0CD6BC6D-6AC8-4290-BB6D-EA65086E616E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E507148-622B-4626-A66F-E180E863A077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4762500" cy="26860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22F16E6-A76E-4FCD-9500-0295C94A0631}"/>
              </a:ext>
            </a:extLst>
          </p:cNvPr>
          <p:cNvSpPr>
            <a:spLocks noGrp="1"/>
          </p:cNvSpPr>
          <p:nvPr/>
        </p:nvSpPr>
        <p:spPr>
          <a:xfrm>
            <a:off x="1181100" y="25146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43F5E"/>
                </a:solidFill>
              </a:defRPr>
            </a:pPr>
            <a:r>
              <a:rPr sz="2100" b="1">
                <a:solidFill>
                  <a:srgbClr val="F43F5E"/>
                </a:solidFill>
              </a:rPr>
              <a:t>Archetipo generale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918F182-E7B7-4A3F-AB60-4BFD92D2F063}"/>
              </a:ext>
            </a:extLst>
          </p:cNvPr>
          <p:cNvSpPr>
            <a:spLocks noGrp="1"/>
          </p:cNvSpPr>
          <p:nvPr/>
        </p:nvSpPr>
        <p:spPr>
          <a:xfrm>
            <a:off x="1181100" y="3143250"/>
            <a:ext cx="3619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Categoria narrativa ampia, spesso riusabile da Wikidata: villain, antihero, tragic hero, chosen one.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C9EE8C3-993B-4CC9-A0B7-24D15D63ADE5}"/>
              </a:ext>
            </a:extLst>
          </p:cNvPr>
          <p:cNvSpPr>
            <a:spLocks noGrp="1"/>
          </p:cNvSpPr>
          <p:nvPr/>
        </p:nvSpPr>
        <p:spPr>
          <a:xfrm>
            <a:off x="6610350" y="2190750"/>
            <a:ext cx="4762500" cy="26860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AA6DC1-B3CD-4F9D-AA30-5610A3A13D29}"/>
              </a:ext>
            </a:extLst>
          </p:cNvPr>
          <p:cNvSpPr>
            <a:spLocks noGrp="1"/>
          </p:cNvSpPr>
          <p:nvPr/>
        </p:nvSpPr>
        <p:spPr>
          <a:xfrm>
            <a:off x="6972300" y="2514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Archetipo giapponese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D0C8E9B-F037-4A2D-B93D-02F3D174E134}"/>
              </a:ext>
            </a:extLst>
          </p:cNvPr>
          <p:cNvSpPr>
            <a:spLocks noGrp="1"/>
          </p:cNvSpPr>
          <p:nvPr/>
        </p:nvSpPr>
        <p:spPr>
          <a:xfrm>
            <a:off x="6972300" y="3143250"/>
            <a:ext cx="3619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Categoria piu situata nel dominio anime/manga. Se manca in Wikidata, viene creata nel namespace locale del progetto.</a:t>
            </a:r>
          </a:p>
        </p:txBody>
      </p:sp>
      <p:sp>
        <p:nvSpPr>
          <p:cNvPr id="11" name="Connettore dritto 10">
            <a:extLst>
              <a:ext uri="{FF2B5EF4-FFF2-40B4-BE49-F238E27FC236}">
                <a16:creationId xmlns:a16="http://schemas.microsoft.com/office/drawing/2014/main" id="{5C652050-19FE-476F-B44F-CB82C450E939}"/>
              </a:ext>
            </a:extLst>
          </p:cNvPr>
          <p:cNvSpPr>
            <a:spLocks noGrp="1"/>
          </p:cNvSpPr>
          <p:nvPr/>
        </p:nvSpPr>
        <p:spPr>
          <a:xfrm>
            <a:off x="5581650" y="3505200"/>
            <a:ext cx="10287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2416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35A78380-5051-4128-A3AE-30468762A799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Modello RDF proposto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C3927CE-00DB-4113-A6E2-6E3317C89622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Il modello distingue il riuso di Wikidata dalla creazione controllata di risorse locali.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76542FC-4036-485D-ACEA-0D6F589421AD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980E73C-64D5-4ED8-9402-91AB2A8CE3CB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D73863F-09B1-4E6B-905E-35CE86872DB8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953000" cy="34290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445B5A1-78C4-4098-B545-8EE9BF807600}"/>
              </a:ext>
            </a:extLst>
          </p:cNvPr>
          <p:cNvSpPr>
            <a:spLocks noGrp="1"/>
          </p:cNvSpPr>
          <p:nvPr/>
        </p:nvSpPr>
        <p:spPr>
          <a:xfrm>
            <a:off x="1162050" y="2266950"/>
            <a:ext cx="438150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[wd:Personaggio]</a:t>
            </a: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animanga:hasGeneralArchetype</a:t>
            </a: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  [wd:QID_Archetipo]</a:t>
            </a:r>
          </a:p>
          <a:p>
            <a:endParaRPr sz="1875" b="0">
              <a:solidFill>
                <a:srgbClr val="FFFFFF"/>
              </a:solidFill>
            </a:endParaRP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[wd:Personaggio]</a:t>
            </a: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animanga:hasJapaneseArchetype</a:t>
            </a:r>
          </a:p>
          <a:p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    [ex:Nuovo_Archetipo]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93F2D54-50D0-4245-BF61-88DA9BA50C12}"/>
              </a:ext>
            </a:extLst>
          </p:cNvPr>
          <p:cNvSpPr>
            <a:spLocks noGrp="1"/>
          </p:cNvSpPr>
          <p:nvPr/>
        </p:nvSpPr>
        <p:spPr>
          <a:xfrm>
            <a:off x="6667500" y="2305050"/>
            <a:ext cx="4095750" cy="2819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F3442EE-79C5-4169-9B39-07572F7FE15E}"/>
              </a:ext>
            </a:extLst>
          </p:cNvPr>
          <p:cNvSpPr>
            <a:spLocks noGrp="1"/>
          </p:cNvSpPr>
          <p:nvPr/>
        </p:nvSpPr>
        <p:spPr>
          <a:xfrm>
            <a:off x="7010400" y="2628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Scelta progettuale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8B931F3-A78F-4409-8394-296BC9418BF5}"/>
              </a:ext>
            </a:extLst>
          </p:cNvPr>
          <p:cNvSpPr>
            <a:spLocks noGrp="1"/>
          </p:cNvSpPr>
          <p:nvPr/>
        </p:nvSpPr>
        <p:spPr>
          <a:xfrm>
            <a:off x="7010400" y="331470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DD06E88-30BE-4677-B812-E0B39FA156C2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2838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Wikidata resta la base di identita.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AB31997-D87C-4529-8846-38955F638396}"/>
              </a:ext>
            </a:extLst>
          </p:cNvPr>
          <p:cNvSpPr>
            <a:spLocks noGrp="1"/>
          </p:cNvSpPr>
          <p:nvPr/>
        </p:nvSpPr>
        <p:spPr>
          <a:xfrm>
            <a:off x="7010400" y="394335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97B53AE-6141-472F-A847-00AE70E10FF1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2838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Il vocabolario animanga: aggiunge relazioni narrative.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7EEAF7F-D742-48C5-9074-86D6CE80647C}"/>
              </a:ext>
            </a:extLst>
          </p:cNvPr>
          <p:cNvSpPr>
            <a:spLocks noGrp="1"/>
          </p:cNvSpPr>
          <p:nvPr/>
        </p:nvSpPr>
        <p:spPr>
          <a:xfrm>
            <a:off x="7010400" y="4572000"/>
            <a:ext cx="152400" cy="152400"/>
          </a:xfrm>
          <a:prstGeom prst="rect">
            <a:avLst/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18E101D-20AC-4066-AF4C-1807AE10B958}"/>
              </a:ext>
            </a:extLst>
          </p:cNvPr>
          <p:cNvSpPr>
            <a:spLocks noGrp="1"/>
          </p:cNvSpPr>
          <p:nvPr/>
        </p:nvSpPr>
        <p:spPr>
          <a:xfrm>
            <a:off x="7315200" y="4514850"/>
            <a:ext cx="2838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Le risorse ex: coprono archetipi specifici non presenti.</a:t>
            </a:r>
          </a:p>
        </p:txBody>
      </p:sp>
    </p:spTree>
    <p:extLst>
      <p:ext uri="{BB962C8B-B14F-4D97-AF65-F5344CB8AC3E}">
        <p14:creationId xmlns:p14="http://schemas.microsoft.com/office/powerpoint/2010/main" val="23148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78EEFBDA-9ABB-4E5F-9805-62C3A2014BAE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8001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Esempio: Itachi Uchiha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1523823A-5763-4810-A22D-C68840FF7AE6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La tripla finale nasce da una proposta LLM verificata, non da una generazione automatica non controllata.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D898ADA-0AA7-4BDF-A6A9-FE87396A892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CF2EB58-6E23-471E-9A4D-28028695F816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BBDA75E-45A6-4C43-8712-6056C4B7A569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4095750" cy="3124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F694E7C-88C9-47C1-AC49-47B51B8BD4F5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Interpretazione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D0774F6-9CF8-414B-B937-3266E5B7BA22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3143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F43F5E"/>
                </a:solidFill>
              </a:defRPr>
            </a:pPr>
            <a:r>
              <a:rPr sz="2325" b="1">
                <a:solidFill>
                  <a:srgbClr val="F43F5E"/>
                </a:solidFill>
              </a:rPr>
              <a:t>Itachi Uchiha</a:t>
            </a:r>
          </a:p>
          <a:p>
            <a:pPr algn="l">
              <a:defRPr sz="2325" b="1">
                <a:solidFill>
                  <a:srgbClr val="F43F5E"/>
                </a:solidFill>
              </a:defRPr>
            </a:pPr>
            <a:r>
              <a:rPr sz="2325" b="1">
                <a:solidFill>
                  <a:srgbClr val="F43F5E"/>
                </a:solidFill>
              </a:rPr>
              <a:t>-&gt; tragic hero</a:t>
            </a:r>
          </a:p>
          <a:p>
            <a:pPr algn="l">
              <a:defRPr sz="2325" b="1">
                <a:solidFill>
                  <a:srgbClr val="F43F5E"/>
                </a:solidFill>
              </a:defRPr>
            </a:pPr>
            <a:r>
              <a:rPr sz="2325" b="1">
                <a:solidFill>
                  <a:srgbClr val="F43F5E"/>
                </a:solidFill>
              </a:rPr>
              <a:t>-&gt; sacrificial shinobi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0517527-6206-4501-A825-CB234D49E9E3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tragic hero viene riusato; sacrificial shinobi diventa risorsa locale.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D7999D6-A59D-4B9D-9AC5-C55FC2F872BE}"/>
              </a:ext>
            </a:extLst>
          </p:cNvPr>
          <p:cNvSpPr>
            <a:spLocks noGrp="1"/>
          </p:cNvSpPr>
          <p:nvPr/>
        </p:nvSpPr>
        <p:spPr>
          <a:xfrm>
            <a:off x="5619750" y="2076450"/>
            <a:ext cx="5334000" cy="312420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B06217A-8DF6-435B-8061-8D146D5ED05B}"/>
              </a:ext>
            </a:extLst>
          </p:cNvPr>
          <p:cNvSpPr>
            <a:spLocks noGrp="1"/>
          </p:cNvSpPr>
          <p:nvPr/>
        </p:nvSpPr>
        <p:spPr>
          <a:xfrm>
            <a:off x="5905500" y="2343150"/>
            <a:ext cx="476250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wd:Q1043344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animanga:hasGeneralArchetype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  wd:Q1969230 ;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animanga:hasJapaneseArchetype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  ex:sacrificial-shinobi .</a:t>
            </a:r>
          </a:p>
        </p:txBody>
      </p:sp>
    </p:spTree>
    <p:extLst>
      <p:ext uri="{BB962C8B-B14F-4D97-AF65-F5344CB8AC3E}">
        <p14:creationId xmlns:p14="http://schemas.microsoft.com/office/powerpoint/2010/main" val="1258434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id="{E5AC53CA-A42A-4C57-B30E-D55F17AE2365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Conclusione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4172AA5-8448-423D-A0ED-10652D1A58EE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AniManga O-KG propone un metodo controllato per arricchire Wikidata senza delegare tutto agli LLM.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394D5BE-4DED-487A-8E59-A168D868508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AniManga O-KG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A52FEEF-D4E4-4785-AFA4-D1E3F677E00A}"/>
              </a:ext>
            </a:extLst>
          </p:cNvPr>
          <p:cNvSpPr>
            <a:spLocks noGrp="1"/>
          </p:cNvSpPr>
          <p:nvPr/>
        </p:nvSpPr>
        <p:spPr>
          <a:xfrm>
            <a:off x="11277600" y="62865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83C284F-9595-4927-AF71-6629E96C8A38}"/>
              </a:ext>
            </a:extLst>
          </p:cNvPr>
          <p:cNvSpPr>
            <a:spLocks noGrp="1"/>
          </p:cNvSpPr>
          <p:nvPr/>
        </p:nvSpPr>
        <p:spPr>
          <a:xfrm>
            <a:off x="1123950" y="214312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5D717E7-118B-48B0-9483-96A3C336C257}"/>
              </a:ext>
            </a:extLst>
          </p:cNvPr>
          <p:cNvSpPr>
            <a:spLocks noGrp="1"/>
          </p:cNvSpPr>
          <p:nvPr/>
        </p:nvSpPr>
        <p:spPr>
          <a:xfrm>
            <a:off x="1447800" y="209550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SPARQL individua e misura il gap.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8C8D3BF-0B0A-4C0F-97E5-454EA260448A}"/>
              </a:ext>
            </a:extLst>
          </p:cNvPr>
          <p:cNvSpPr>
            <a:spLocks noGrp="1"/>
          </p:cNvSpPr>
          <p:nvPr/>
        </p:nvSpPr>
        <p:spPr>
          <a:xfrm>
            <a:off x="1123950" y="269557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0BA77F4-E288-4DC5-A3AD-0B46E3C8C26C}"/>
              </a:ext>
            </a:extLst>
          </p:cNvPr>
          <p:cNvSpPr>
            <a:spLocks noGrp="1"/>
          </p:cNvSpPr>
          <p:nvPr/>
        </p:nvSpPr>
        <p:spPr>
          <a:xfrm>
            <a:off x="1447800" y="264795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UNION rivela la frammentazione delle modellazioni.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A04F81B-F2D4-47E3-B3D3-C7442E3A6D71}"/>
              </a:ext>
            </a:extLst>
          </p:cNvPr>
          <p:cNvSpPr>
            <a:spLocks noGrp="1"/>
          </p:cNvSpPr>
          <p:nvPr/>
        </p:nvSpPr>
        <p:spPr>
          <a:xfrm>
            <a:off x="1123950" y="324802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5E067E3-A279-4A0D-B2AF-6B317B477635}"/>
              </a:ext>
            </a:extLst>
          </p:cNvPr>
          <p:cNvSpPr>
            <a:spLocks noGrp="1"/>
          </p:cNvSpPr>
          <p:nvPr/>
        </p:nvSpPr>
        <p:spPr>
          <a:xfrm>
            <a:off x="1447800" y="320040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Gli LLM formulano ipotesi narrative, non identificativi definitivi.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727DEBB-251F-41EF-8240-088C2AEB4C47}"/>
              </a:ext>
            </a:extLst>
          </p:cNvPr>
          <p:cNvSpPr>
            <a:spLocks noGrp="1"/>
          </p:cNvSpPr>
          <p:nvPr/>
        </p:nvSpPr>
        <p:spPr>
          <a:xfrm>
            <a:off x="1123950" y="3800475"/>
            <a:ext cx="171450" cy="1714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09CD2AD-5E02-44BD-A68F-1B474D474FFF}"/>
              </a:ext>
            </a:extLst>
          </p:cNvPr>
          <p:cNvSpPr>
            <a:spLocks noGrp="1"/>
          </p:cNvSpPr>
          <p:nvPr/>
        </p:nvSpPr>
        <p:spPr>
          <a:xfrm>
            <a:off x="1447800" y="3752850"/>
            <a:ext cx="901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La validazione umana e SPARQL trasformano solo le ipotesi solide in RDF.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4CD5891-13AE-40EC-95F6-B9576D6D34C9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9334500" cy="78105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CAD763AD-19B1-4E49-976D-B78CBD230B78}"/>
              </a:ext>
            </a:extLst>
          </p:cNvPr>
          <p:cNvSpPr>
            <a:spLocks noGrp="1"/>
          </p:cNvSpPr>
          <p:nvPr/>
        </p:nvSpPr>
        <p:spPr>
          <a:xfrm>
            <a:off x="1466850" y="50482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Risultato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C3D7878-39E8-4D65-828E-EA6ECE97AD1C}"/>
              </a:ext>
            </a:extLst>
          </p:cNvPr>
          <p:cNvSpPr>
            <a:spLocks noGrp="1"/>
          </p:cNvSpPr>
          <p:nvPr/>
        </p:nvSpPr>
        <p:spPr>
          <a:xfrm>
            <a:off x="3143250" y="50101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Il progetto trasforma un vuoto descrittivo sugli archetipi in un processo ripetibile di proposta, controllo e pubblicazione RDF.</a:t>
            </a:r>
          </a:p>
        </p:txBody>
      </p:sp>
    </p:spTree>
    <p:extLst>
      <p:ext uri="{BB962C8B-B14F-4D97-AF65-F5344CB8AC3E}">
        <p14:creationId xmlns:p14="http://schemas.microsoft.com/office/powerpoint/2010/main" val="43190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1343</Words>
  <Application>Microsoft Macintosh PowerPoint</Application>
  <DocSecurity>0</DocSecurity>
  <PresentationFormat>Widescreen</PresentationFormat>
  <Paragraphs>210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0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Michele Franco - michele.franco3@studio.unibo.it</cp:lastModifiedBy>
  <cp:revision>2</cp:revision>
  <dcterms:created xsi:type="dcterms:W3CDTF">2026-06-30T20:14:38Z</dcterms:created>
  <dcterms:modified xsi:type="dcterms:W3CDTF">2026-06-30T20:33:21Z</dcterms:modified>
</cp:coreProperties>
</file>