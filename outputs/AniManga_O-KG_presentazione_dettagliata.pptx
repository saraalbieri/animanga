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74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1" r:id="rId18"/>
    <p:sldId id="272" r:id="rId19"/>
    <p:sldId id="275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5744"/>
    <p:restoredTop sz="94717"/>
  </p:normalViewPr>
  <p:slideViewPr>
    <p:cSldViewPr snapToGrid="0">
      <p:cViewPr varScale="1">
        <p:scale>
          <a:sx n="86" d="100"/>
          <a:sy n="86" d="100"/>
        </p:scale>
        <p:origin x="67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bieri Sara" userId="647da041-e122-4c39-b456-4b0bb026a939" providerId="ADAL" clId="{13D4D05E-BEA8-4E61-99A5-0FED29BC8753}"/>
    <pc:docChg chg="modSld">
      <pc:chgData name="Albieri Sara" userId="647da041-e122-4c39-b456-4b0bb026a939" providerId="ADAL" clId="{13D4D05E-BEA8-4E61-99A5-0FED29BC8753}" dt="2026-07-01T09:04:30.488" v="6" actId="1037"/>
      <pc:docMkLst>
        <pc:docMk/>
      </pc:docMkLst>
      <pc:sldChg chg="modSp mod">
        <pc:chgData name="Albieri Sara" userId="647da041-e122-4c39-b456-4b0bb026a939" providerId="ADAL" clId="{13D4D05E-BEA8-4E61-99A5-0FED29BC8753}" dt="2026-07-01T09:04:30.488" v="6" actId="1037"/>
        <pc:sldMkLst>
          <pc:docMk/>
          <pc:sldMk cId="876355207" sldId="256"/>
        </pc:sldMkLst>
        <pc:picChg chg="mod">
          <ac:chgData name="Albieri Sara" userId="647da041-e122-4c39-b456-4b0bb026a939" providerId="ADAL" clId="{13D4D05E-BEA8-4E61-99A5-0FED29BC8753}" dt="2026-07-01T09:04:30.488" v="6" actId="1037"/>
          <ac:picMkLst>
            <pc:docMk/>
            <pc:sldMk cId="876355207" sldId="256"/>
            <ac:picMk id="15" creationId="{00000000-0000-0000-0000-000000000000}"/>
          </ac:picMkLst>
        </pc:picChg>
      </pc:sld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Personaggi univoci</c:v>
          </c:tx>
          <c:spPr>
            <a:solidFill>
              <a:srgbClr val="F43F5E"/>
            </a:solidFill>
          </c:spPr>
          <c:invertIfNegative val="1"/>
          <c:dLbls>
            <c:delete val="1"/>
          </c:dLbls>
          <c:cat>
            <c:strLit>
              <c:ptCount val="2"/>
              <c:pt idx="0">
                <c:v>Con character type</c:v>
              </c:pt>
              <c:pt idx="1">
                <c:v>Senza character type</c:v>
              </c:pt>
            </c:strLit>
          </c:cat>
          <c:val>
            <c:numLit>
              <c:formatCode>General</c:formatCode>
              <c:ptCount val="2"/>
              <c:pt idx="0">
                <c:v>7</c:v>
              </c:pt>
              <c:pt idx="1">
                <c:v>1107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4C2-BD41-926D-6582E829F0D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0F172A"/>
                </a:solidFill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noMultiLvlLbl val="0"/>
      </c:catAx>
      <c:valAx>
        <c:axId val="48672768"/>
        <c:scaling>
          <c:orientation val="minMax"/>
          <c:max val="1200"/>
        </c:scaling>
        <c:delete val="0"/>
        <c:axPos val="l"/>
        <c:majorGridlines>
          <c:spPr>
            <a:ln w="9525">
              <a:solidFill>
                <a:srgbClr val="E2E8F0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it-IT"/>
          </a:p>
        </c:txPr>
        <c:crossAx val="48650112"/>
        <c:crosses val="autoZero"/>
        <c:crossBetween val="between"/>
      </c:valAx>
      <c:spPr>
        <a:solidFill>
          <a:srgbClr val="FFFFFF"/>
        </a:solidFill>
      </c:spPr>
    </c:plotArea>
    <c:plotVisOnly val="1"/>
    <c:dispBlanksAs val="zero"/>
    <c:showDLblsOverMax val="1"/>
  </c:chart>
  <c:spPr>
    <a:solidFill>
      <a:srgbClr val="FFFFFF"/>
    </a:solidFill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203E-ECFB-FCBE-17FA-AB2730A7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9D92D2-9993-16F1-54CC-1EA06214EF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B8017-4995-E2C2-9D48-168792E0F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C988C-913A-8B5E-BBB3-38345A0AF390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54854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magine 13"/>
          <p:cNvPicPr>
            <a:picLocks noChangeAspect="1"/>
          </p:cNvPicPr>
          <p:nvPr/>
        </p:nvPicPr>
        <p:blipFill>
          <a:blip r:embed="rId3"/>
          <a:srcRect l="38477" r="38477"/>
          <a:stretch>
            <a:fillRect/>
          </a:stretch>
        </p:blipFill>
        <p:spPr>
          <a:xfrm>
            <a:off x="6572250" y="0"/>
            <a:ext cx="2809875" cy="6858000"/>
          </a:xfrm>
          <a:prstGeom prst="rect">
            <a:avLst/>
          </a:prstGeom>
        </p:spPr>
      </p:pic>
      <p:pic>
        <p:nvPicPr>
          <p:cNvPr id="15" name="Immagine 14"/>
          <p:cNvPicPr>
            <a:picLocks noChangeAspect="1"/>
          </p:cNvPicPr>
          <p:nvPr/>
        </p:nvPicPr>
        <p:blipFill>
          <a:blip r:embed="rId4"/>
          <a:srcRect l="38487" r="38487"/>
          <a:stretch>
            <a:fillRect/>
          </a:stretch>
        </p:blipFill>
        <p:spPr>
          <a:xfrm>
            <a:off x="9391003" y="0"/>
            <a:ext cx="2809875" cy="6858000"/>
          </a:xfrm>
          <a:prstGeom prst="rect">
            <a:avLst/>
          </a:prstGeom>
        </p:spPr>
      </p:pic>
      <p:sp>
        <p:nvSpPr>
          <p:cNvPr id="3" name="Rettangolo 2">
            <a:extLst>
              <a:ext uri="{FF2B5EF4-FFF2-40B4-BE49-F238E27FC236}">
                <a16:creationId xmlns:a16="http://schemas.microsoft.com/office/drawing/2014/main" id="{27A5B699-B26D-4363-B1E9-3CE69DAFFFB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572250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6574DA69-64ED-45F0-83A5-5C14E518D0A4}"/>
              </a:ext>
            </a:extLst>
          </p:cNvPr>
          <p:cNvSpPr>
            <a:spLocks noGrp="1"/>
          </p:cNvSpPr>
          <p:nvPr/>
        </p:nvSpPr>
        <p:spPr>
          <a:xfrm>
            <a:off x="400050" y="666750"/>
            <a:ext cx="55245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0F172A"/>
                </a:solidFill>
              </a:defRPr>
            </a:pPr>
            <a:r>
              <a:rPr sz="4350" b="1">
                <a:solidFill>
                  <a:srgbClr val="0F172A"/>
                </a:solidFill>
              </a:rPr>
              <a:t>AniManga O-KG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D71EA89-9E3E-4AF2-B41F-1BEBD3388C5D}"/>
              </a:ext>
            </a:extLst>
          </p:cNvPr>
          <p:cNvSpPr>
            <a:spLocks noGrp="1"/>
          </p:cNvSpPr>
          <p:nvPr/>
        </p:nvSpPr>
        <p:spPr>
          <a:xfrm>
            <a:off x="400050" y="1619250"/>
            <a:ext cx="5143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43F5E"/>
                </a:solidFill>
              </a:defRPr>
            </a:pPr>
            <a:r>
              <a:rPr sz="1875" b="1">
                <a:solidFill>
                  <a:srgbClr val="F43F5E"/>
                </a:solidFill>
              </a:rPr>
              <a:t>Versione dettagliata del progetto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C91975A-6EF8-4C6B-8090-EE7AE5278E15}"/>
              </a:ext>
            </a:extLst>
          </p:cNvPr>
          <p:cNvSpPr>
            <a:spLocks noGrp="1"/>
          </p:cNvSpPr>
          <p:nvPr/>
        </p:nvSpPr>
        <p:spPr>
          <a:xfrm>
            <a:off x="400050" y="2133600"/>
            <a:ext cx="51435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 dirty="0" err="1">
                <a:solidFill>
                  <a:srgbClr val="475569"/>
                </a:solidFill>
              </a:rPr>
              <a:t>Mappatura</a:t>
            </a:r>
            <a:r>
              <a:rPr sz="1725" b="0" dirty="0">
                <a:solidFill>
                  <a:srgbClr val="475569"/>
                </a:solidFill>
              </a:rPr>
              <a:t> degli </a:t>
            </a:r>
            <a:r>
              <a:rPr sz="1725" b="0" dirty="0" err="1">
                <a:solidFill>
                  <a:srgbClr val="475569"/>
                </a:solidFill>
              </a:rPr>
              <a:t>archetipi</a:t>
            </a:r>
            <a:r>
              <a:rPr sz="1725" b="0" dirty="0">
                <a:solidFill>
                  <a:srgbClr val="475569"/>
                </a:solidFill>
              </a:rPr>
              <a:t> </a:t>
            </a:r>
            <a:r>
              <a:rPr sz="1725" b="0" dirty="0" err="1">
                <a:solidFill>
                  <a:srgbClr val="475569"/>
                </a:solidFill>
              </a:rPr>
              <a:t>narrativi</a:t>
            </a:r>
            <a:r>
              <a:rPr sz="1725" b="0" dirty="0">
                <a:solidFill>
                  <a:srgbClr val="475569"/>
                </a:solidFill>
              </a:rPr>
              <a:t> </a:t>
            </a:r>
            <a:r>
              <a:rPr sz="1725" b="0" dirty="0" err="1">
                <a:solidFill>
                  <a:srgbClr val="475569"/>
                </a:solidFill>
              </a:rPr>
              <a:t>nei</a:t>
            </a:r>
            <a:r>
              <a:rPr sz="1725" b="0" dirty="0">
                <a:solidFill>
                  <a:srgbClr val="475569"/>
                </a:solidFill>
              </a:rPr>
              <a:t> media </a:t>
            </a:r>
            <a:r>
              <a:rPr sz="1725" b="0" dirty="0" err="1">
                <a:solidFill>
                  <a:srgbClr val="475569"/>
                </a:solidFill>
              </a:rPr>
              <a:t>giapponesi</a:t>
            </a:r>
            <a:r>
              <a:rPr sz="1725" b="0" dirty="0">
                <a:solidFill>
                  <a:srgbClr val="475569"/>
                </a:solidFill>
              </a:rPr>
              <a:t> </a:t>
            </a:r>
            <a:r>
              <a:rPr sz="1725" b="0" dirty="0" err="1">
                <a:solidFill>
                  <a:srgbClr val="475569"/>
                </a:solidFill>
              </a:rPr>
              <a:t>attraverso</a:t>
            </a:r>
            <a:r>
              <a:rPr sz="1725" b="0" dirty="0">
                <a:solidFill>
                  <a:srgbClr val="475569"/>
                </a:solidFill>
              </a:rPr>
              <a:t> </a:t>
            </a:r>
            <a:r>
              <a:rPr sz="1725" b="0" dirty="0" err="1">
                <a:solidFill>
                  <a:srgbClr val="475569"/>
                </a:solidFill>
              </a:rPr>
              <a:t>Wikidata</a:t>
            </a:r>
            <a:r>
              <a:rPr sz="1725" b="0" dirty="0">
                <a:solidFill>
                  <a:srgbClr val="475569"/>
                </a:solidFill>
              </a:rPr>
              <a:t>, SPARQL, LLM e RDF.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4E065A92-0A37-482B-BE4F-D78D70EEB1F3}"/>
              </a:ext>
            </a:extLst>
          </p:cNvPr>
          <p:cNvSpPr>
            <a:spLocks noGrp="1"/>
          </p:cNvSpPr>
          <p:nvPr/>
        </p:nvSpPr>
        <p:spPr>
          <a:xfrm>
            <a:off x="400050" y="3238500"/>
            <a:ext cx="5619750" cy="11049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C1777BD5-DA83-4EAF-A74F-4DFBA3E009C4}"/>
              </a:ext>
            </a:extLst>
          </p:cNvPr>
          <p:cNvSpPr>
            <a:spLocks noGrp="1"/>
          </p:cNvSpPr>
          <p:nvPr/>
        </p:nvSpPr>
        <p:spPr>
          <a:xfrm>
            <a:off x="685800" y="344805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43F5E"/>
                </a:solidFill>
              </a:defRPr>
            </a:pPr>
            <a:r>
              <a:rPr sz="1500" b="1">
                <a:solidFill>
                  <a:srgbClr val="F43F5E"/>
                </a:solidFill>
              </a:rPr>
              <a:t>Index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4BDE600C-A8CE-4487-9E34-EB5422E869AC}"/>
              </a:ext>
            </a:extLst>
          </p:cNvPr>
          <p:cNvSpPr>
            <a:spLocks noGrp="1"/>
          </p:cNvSpPr>
          <p:nvPr/>
        </p:nvSpPr>
        <p:spPr>
          <a:xfrm>
            <a:off x="2000250" y="34480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https://saraalbieri.github.io/AniManga/index.html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FFCC948F-7ABD-4A1B-BD35-76BFCA1A0540}"/>
              </a:ext>
            </a:extLst>
          </p:cNvPr>
          <p:cNvSpPr>
            <a:spLocks noGrp="1"/>
          </p:cNvSpPr>
          <p:nvPr/>
        </p:nvSpPr>
        <p:spPr>
          <a:xfrm>
            <a:off x="685800" y="38481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43F5E"/>
                </a:solidFill>
              </a:defRPr>
            </a:pPr>
            <a:r>
              <a:rPr sz="1500" b="1">
                <a:solidFill>
                  <a:srgbClr val="F43F5E"/>
                </a:solidFill>
              </a:rPr>
              <a:t>Repository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7959A93B-5D12-4A84-8B93-F5951FA35167}"/>
              </a:ext>
            </a:extLst>
          </p:cNvPr>
          <p:cNvSpPr>
            <a:spLocks noGrp="1"/>
          </p:cNvSpPr>
          <p:nvPr/>
        </p:nvSpPr>
        <p:spPr>
          <a:xfrm>
            <a:off x="2000250" y="38481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 dirty="0">
                <a:solidFill>
                  <a:srgbClr val="475569"/>
                </a:solidFill>
              </a:rPr>
              <a:t>https://</a:t>
            </a:r>
            <a:r>
              <a:rPr sz="1275" b="0" dirty="0" err="1">
                <a:solidFill>
                  <a:srgbClr val="475569"/>
                </a:solidFill>
              </a:rPr>
              <a:t>github.com</a:t>
            </a:r>
            <a:r>
              <a:rPr sz="1275" b="0" dirty="0">
                <a:solidFill>
                  <a:srgbClr val="475569"/>
                </a:solidFill>
              </a:rPr>
              <a:t>/</a:t>
            </a:r>
            <a:r>
              <a:rPr sz="1275" b="0" dirty="0" err="1">
                <a:solidFill>
                  <a:srgbClr val="475569"/>
                </a:solidFill>
              </a:rPr>
              <a:t>saraalbieri</a:t>
            </a:r>
            <a:r>
              <a:rPr sz="1275" b="0" dirty="0">
                <a:solidFill>
                  <a:srgbClr val="475569"/>
                </a:solidFill>
              </a:rPr>
              <a:t>/</a:t>
            </a:r>
            <a:r>
              <a:rPr sz="1275" b="0" dirty="0" err="1">
                <a:solidFill>
                  <a:srgbClr val="475569"/>
                </a:solidFill>
              </a:rPr>
              <a:t>AniManga</a:t>
            </a:r>
            <a:endParaRPr sz="1275" b="0" dirty="0">
              <a:solidFill>
                <a:srgbClr val="475569"/>
              </a:solidFill>
            </a:endParaRP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029AD981-A300-4721-B28B-A1C0CCE8CAE9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01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CE7620BC-7286-FEED-0E06-7FCBB9825367}"/>
              </a:ext>
            </a:extLst>
          </p:cNvPr>
          <p:cNvSpPr>
            <a:spLocks noGrp="1"/>
          </p:cNvSpPr>
          <p:nvPr/>
        </p:nvSpPr>
        <p:spPr>
          <a:xfrm>
            <a:off x="400050" y="5276850"/>
            <a:ext cx="5619750" cy="4953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r>
              <a:rPr lang="it-IT" sz="1725" dirty="0">
                <a:solidFill>
                  <a:srgbClr val="475569"/>
                </a:solidFill>
              </a:rPr>
              <a:t>Autori: Michele Franco – Sara Albieri</a:t>
            </a:r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76355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86E93F57-EC49-4DD0-B667-49E4C49079A9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Domanda di ricerca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3C02309E-9EC7-4789-9347-A153AA031DAE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Il progetto nasce da una lacuna precisa: Wikidata descrive bene molte entita, ma non sempre esplicita il ruolo narrativo dei personaggi.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D89DA2C9-F777-477B-8753-C21E402A1511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9CCEE8C4-1F09-4164-878D-E97A11D9CDEA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02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EBB737CC-42AE-4CC5-8B3A-A1839DBB74AC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4857750" cy="29527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4C7AEBEE-38D1-43C2-B926-73C7ABDBCD6E}"/>
              </a:ext>
            </a:extLst>
          </p:cNvPr>
          <p:cNvSpPr>
            <a:spLocks noGrp="1"/>
          </p:cNvSpPr>
          <p:nvPr/>
        </p:nvSpPr>
        <p:spPr>
          <a:xfrm>
            <a:off x="1028700" y="24003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F43F5E"/>
                </a:solidFill>
              </a:defRPr>
            </a:pPr>
            <a:r>
              <a:rPr sz="2250" b="1">
                <a:solidFill>
                  <a:srgbClr val="F43F5E"/>
                </a:solidFill>
              </a:rPr>
              <a:t>Problema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47C4061F-8054-4B30-A85F-B157D3D921AC}"/>
              </a:ext>
            </a:extLst>
          </p:cNvPr>
          <p:cNvSpPr>
            <a:spLocks noGrp="1"/>
          </p:cNvSpPr>
          <p:nvPr/>
        </p:nvSpPr>
        <p:spPr>
          <a:xfrm>
            <a:off x="1028700" y="3028950"/>
            <a:ext cx="390525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>
                <a:solidFill>
                  <a:srgbClr val="475569"/>
                </a:solidFill>
              </a:rPr>
              <a:t>Per molti personaggi non e presente propriamente un archetipo narrativo strutturato. Esistono descrizioni, QID, opere collegate e identificativi, ma spesso manca il character type.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EF1ECE70-CF5B-46C1-B057-B19AA73EC6C2}"/>
              </a:ext>
            </a:extLst>
          </p:cNvPr>
          <p:cNvSpPr>
            <a:spLocks noGrp="1"/>
          </p:cNvSpPr>
          <p:nvPr/>
        </p:nvSpPr>
        <p:spPr>
          <a:xfrm>
            <a:off x="6667500" y="2095500"/>
            <a:ext cx="4191000" cy="295275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4D275C0-F85C-465C-970B-D6F76AEC1968}"/>
              </a:ext>
            </a:extLst>
          </p:cNvPr>
          <p:cNvSpPr>
            <a:spLocks noGrp="1"/>
          </p:cNvSpPr>
          <p:nvPr/>
        </p:nvSpPr>
        <p:spPr>
          <a:xfrm>
            <a:off x="7010400" y="240030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22C55E"/>
                </a:solidFill>
              </a:defRPr>
            </a:pPr>
            <a:r>
              <a:rPr sz="2250" b="1">
                <a:solidFill>
                  <a:srgbClr val="22C55E"/>
                </a:solidFill>
              </a:rPr>
              <a:t>Ipotesi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87E499C-A460-4C23-9C66-F2DAF404F135}"/>
              </a:ext>
            </a:extLst>
          </p:cNvPr>
          <p:cNvSpPr>
            <a:spLocks noGrp="1"/>
          </p:cNvSpPr>
          <p:nvPr/>
        </p:nvSpPr>
        <p:spPr>
          <a:xfrm>
            <a:off x="7010400" y="3028950"/>
            <a:ext cx="32385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475569"/>
                </a:solidFill>
              </a:defRPr>
            </a:pPr>
            <a:r>
              <a:rPr sz="1800" b="0">
                <a:solidFill>
                  <a:srgbClr val="475569"/>
                </a:solidFill>
              </a:rPr>
              <a:t>SPARQL puo misurare il gap; gli LLM possono proporre archetipi; la validazione umana decide cosa diventa RDF.</a:t>
            </a:r>
          </a:p>
        </p:txBody>
      </p:sp>
    </p:spTree>
    <p:extLst>
      <p:ext uri="{BB962C8B-B14F-4D97-AF65-F5344CB8AC3E}">
        <p14:creationId xmlns:p14="http://schemas.microsoft.com/office/powerpoint/2010/main" val="2109145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tangolo 15">
            <a:extLst>
              <a:ext uri="{FF2B5EF4-FFF2-40B4-BE49-F238E27FC236}">
                <a16:creationId xmlns:a16="http://schemas.microsoft.com/office/drawing/2014/main" id="{590BDBCF-517F-46F5-B578-08E963332AF2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Perche gli archetipi contano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CE296C4D-DD92-4BAC-A757-364DE1C1CCF7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Un archetipo non e un semplice attributo descrittivo: rende interrogabile la funzione narrativa di un personaggio.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E7DC399-92E3-45E5-AF38-044F7E70A305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75F3557A-27F1-4323-85AA-B703985DBC1E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03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ECF2452C-70D7-4F52-9E14-26A843EF9031}"/>
              </a:ext>
            </a:extLst>
          </p:cNvPr>
          <p:cNvSpPr>
            <a:spLocks noGrp="1"/>
          </p:cNvSpPr>
          <p:nvPr/>
        </p:nvSpPr>
        <p:spPr>
          <a:xfrm>
            <a:off x="819150" y="220980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CCC5987-DB94-4F93-A70D-1BE158521395}"/>
              </a:ext>
            </a:extLst>
          </p:cNvPr>
          <p:cNvSpPr>
            <a:spLocks noGrp="1"/>
          </p:cNvSpPr>
          <p:nvPr/>
        </p:nvSpPr>
        <p:spPr>
          <a:xfrm>
            <a:off x="1123950" y="2152650"/>
            <a:ext cx="84582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Permette di confrontare personaggi di opere diverse secondo ruoli narrativi comuni.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DA1A9CE-DB6E-4108-83FC-4F6EC513433F}"/>
              </a:ext>
            </a:extLst>
          </p:cNvPr>
          <p:cNvSpPr>
            <a:spLocks noGrp="1"/>
          </p:cNvSpPr>
          <p:nvPr/>
        </p:nvSpPr>
        <p:spPr>
          <a:xfrm>
            <a:off x="819150" y="2790825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7EE738C-DA9E-4242-AE27-B6EC61E612FC}"/>
              </a:ext>
            </a:extLst>
          </p:cNvPr>
          <p:cNvSpPr>
            <a:spLocks noGrp="1"/>
          </p:cNvSpPr>
          <p:nvPr/>
        </p:nvSpPr>
        <p:spPr>
          <a:xfrm>
            <a:off x="1123950" y="2733675"/>
            <a:ext cx="84582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r>
              <a:rPr sz="1800" b="0" dirty="0" err="1">
                <a:solidFill>
                  <a:srgbClr val="0F172A"/>
                </a:solidFill>
              </a:rPr>
              <a:t>Aiuta</a:t>
            </a:r>
            <a:r>
              <a:rPr sz="1800" b="0" dirty="0">
                <a:solidFill>
                  <a:srgbClr val="0F172A"/>
                </a:solidFill>
              </a:rPr>
              <a:t> a </a:t>
            </a:r>
            <a:r>
              <a:rPr sz="1800" b="0" dirty="0" err="1">
                <a:solidFill>
                  <a:srgbClr val="0F172A"/>
                </a:solidFill>
              </a:rPr>
              <a:t>distinguere</a:t>
            </a:r>
            <a:r>
              <a:rPr sz="1800" b="0" dirty="0">
                <a:solidFill>
                  <a:srgbClr val="0F172A"/>
                </a:solidFill>
              </a:rPr>
              <a:t> </a:t>
            </a:r>
            <a:r>
              <a:rPr sz="1800" b="0" dirty="0" err="1">
                <a:solidFill>
                  <a:srgbClr val="0F172A"/>
                </a:solidFill>
              </a:rPr>
              <a:t>dati</a:t>
            </a:r>
            <a:r>
              <a:rPr sz="1800" b="0" dirty="0">
                <a:solidFill>
                  <a:srgbClr val="0F172A"/>
                </a:solidFill>
              </a:rPr>
              <a:t> </a:t>
            </a:r>
            <a:r>
              <a:rPr sz="1800" b="0" dirty="0" err="1">
                <a:solidFill>
                  <a:srgbClr val="0F172A"/>
                </a:solidFill>
              </a:rPr>
              <a:t>enciclopedici</a:t>
            </a:r>
            <a:r>
              <a:rPr sz="1800" b="0" dirty="0">
                <a:solidFill>
                  <a:srgbClr val="0F172A"/>
                </a:solidFill>
              </a:rPr>
              <a:t> da </a:t>
            </a:r>
            <a:r>
              <a:rPr sz="1800" b="0" dirty="0" err="1">
                <a:solidFill>
                  <a:srgbClr val="0F172A"/>
                </a:solidFill>
              </a:rPr>
              <a:t>interpretazioni</a:t>
            </a:r>
            <a:r>
              <a:rPr sz="1800" b="0" dirty="0">
                <a:solidFill>
                  <a:srgbClr val="0F172A"/>
                </a:solidFill>
              </a:rPr>
              <a:t> </a:t>
            </a:r>
            <a:r>
              <a:rPr sz="1800" b="0" dirty="0" err="1">
                <a:solidFill>
                  <a:srgbClr val="0F172A"/>
                </a:solidFill>
              </a:rPr>
              <a:t>narratologiche</a:t>
            </a:r>
            <a:r>
              <a:rPr sz="1800" b="0" dirty="0">
                <a:solidFill>
                  <a:srgbClr val="0F172A"/>
                </a:solidFill>
              </a:rPr>
              <a:t>.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C709F746-BA47-4005-829B-C81E5BFCDD80}"/>
              </a:ext>
            </a:extLst>
          </p:cNvPr>
          <p:cNvSpPr>
            <a:spLocks noGrp="1"/>
          </p:cNvSpPr>
          <p:nvPr/>
        </p:nvSpPr>
        <p:spPr>
          <a:xfrm>
            <a:off x="1123950" y="4210050"/>
            <a:ext cx="84582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endParaRPr sz="1800" b="0" dirty="0">
              <a:solidFill>
                <a:srgbClr val="0F172A"/>
              </a:solidFill>
            </a:endParaRP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C77937D-1B2A-499B-ACCD-9FF81313C903}"/>
              </a:ext>
            </a:extLst>
          </p:cNvPr>
          <p:cNvSpPr>
            <a:spLocks noGrp="1"/>
          </p:cNvSpPr>
          <p:nvPr/>
        </p:nvSpPr>
        <p:spPr>
          <a:xfrm>
            <a:off x="6858000" y="4762500"/>
            <a:ext cx="4171950" cy="99060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207D825C-4E7F-4879-84E1-596D2A2DA7D8}"/>
              </a:ext>
            </a:extLst>
          </p:cNvPr>
          <p:cNvSpPr>
            <a:spLocks noGrp="1"/>
          </p:cNvSpPr>
          <p:nvPr/>
        </p:nvSpPr>
        <p:spPr>
          <a:xfrm>
            <a:off x="7200900" y="5067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Idea chiave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DA3C4F58-E847-4628-B985-86C982AB25CE}"/>
              </a:ext>
            </a:extLst>
          </p:cNvPr>
          <p:cNvSpPr>
            <a:spLocks noGrp="1"/>
          </p:cNvSpPr>
          <p:nvPr/>
        </p:nvSpPr>
        <p:spPr>
          <a:xfrm>
            <a:off x="8763000" y="4972050"/>
            <a:ext cx="1905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Un concetto interpretativo diventa dato controllabile.</a:t>
            </a:r>
          </a:p>
        </p:txBody>
      </p:sp>
    </p:spTree>
    <p:extLst>
      <p:ext uri="{BB962C8B-B14F-4D97-AF65-F5344CB8AC3E}">
        <p14:creationId xmlns:p14="http://schemas.microsoft.com/office/powerpoint/2010/main" val="983391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41E65D9C-C02E-40AA-84CD-65969DA759F4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Corpus e perimetro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693559D-1D5F-4CBA-85FE-ACE96BCD2A08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Il campione usa franchise molto noti per verificare se il problema e circoscritto o trasversale.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78067CB0-2C74-4782-BAFF-9F0F769035C8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93387E4A-A6AF-4440-8EDD-D460F10CDE01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04</a:t>
            </a:r>
          </a:p>
        </p:txBody>
      </p:sp>
      <p:pic>
        <p:nvPicPr>
          <p:cNvPr id="18" name="Immagine 17"/>
          <p:cNvPicPr>
            <a:picLocks noChangeAspect="1"/>
          </p:cNvPicPr>
          <p:nvPr/>
        </p:nvPicPr>
        <p:blipFill>
          <a:blip r:embed="rId3"/>
          <a:srcRect t="123" b="123"/>
          <a:stretch>
            <a:fillRect/>
          </a:stretch>
        </p:blipFill>
        <p:spPr>
          <a:xfrm>
            <a:off x="400050" y="2057400"/>
            <a:ext cx="3429000" cy="1924050"/>
          </a:xfrm>
          <a:prstGeom prst="rect">
            <a:avLst/>
          </a:prstGeom>
        </p:spPr>
      </p:pic>
      <p:pic>
        <p:nvPicPr>
          <p:cNvPr id="19" name="Immagine 18"/>
          <p:cNvPicPr>
            <a:picLocks noChangeAspect="1"/>
          </p:cNvPicPr>
          <p:nvPr/>
        </p:nvPicPr>
        <p:blipFill>
          <a:blip r:embed="rId4"/>
          <a:srcRect t="77" b="77"/>
          <a:stretch>
            <a:fillRect/>
          </a:stretch>
        </p:blipFill>
        <p:spPr>
          <a:xfrm>
            <a:off x="4381500" y="2057400"/>
            <a:ext cx="3429000" cy="1924050"/>
          </a:xfrm>
          <a:prstGeom prst="rect">
            <a:avLst/>
          </a:prstGeom>
        </p:spPr>
      </p:pic>
      <p:pic>
        <p:nvPicPr>
          <p:cNvPr id="20" name="Immagine 19"/>
          <p:cNvPicPr>
            <a:picLocks noChangeAspect="1"/>
          </p:cNvPicPr>
          <p:nvPr/>
        </p:nvPicPr>
        <p:blipFill>
          <a:blip r:embed="rId5"/>
          <a:srcRect l="19833" r="19833"/>
          <a:stretch>
            <a:fillRect/>
          </a:stretch>
        </p:blipFill>
        <p:spPr>
          <a:xfrm>
            <a:off x="8362950" y="2057400"/>
            <a:ext cx="3429000" cy="1924050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B5237F9E-F152-4D79-BCC3-6707D6797130}"/>
              </a:ext>
            </a:extLst>
          </p:cNvPr>
          <p:cNvSpPr>
            <a:spLocks noGrp="1"/>
          </p:cNvSpPr>
          <p:nvPr/>
        </p:nvSpPr>
        <p:spPr>
          <a:xfrm>
            <a:off x="400050" y="41910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One Piece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43F11E1E-4DE3-4E4B-9C37-2D3AF82A5CC4}"/>
              </a:ext>
            </a:extLst>
          </p:cNvPr>
          <p:cNvSpPr>
            <a:spLocks noGrp="1"/>
          </p:cNvSpPr>
          <p:nvPr/>
        </p:nvSpPr>
        <p:spPr>
          <a:xfrm>
            <a:off x="400050" y="4591050"/>
            <a:ext cx="3238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Campione ampio, molti personaggi e forte varieta di ruoli.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D0157A53-44C5-4BB5-882D-9F395B6CDF53}"/>
              </a:ext>
            </a:extLst>
          </p:cNvPr>
          <p:cNvSpPr>
            <a:spLocks noGrp="1"/>
          </p:cNvSpPr>
          <p:nvPr/>
        </p:nvSpPr>
        <p:spPr>
          <a:xfrm>
            <a:off x="4381500" y="41910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Naruto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D9A0190-1056-4369-985C-4A4F59BC17A7}"/>
              </a:ext>
            </a:extLst>
          </p:cNvPr>
          <p:cNvSpPr>
            <a:spLocks noGrp="1"/>
          </p:cNvSpPr>
          <p:nvPr/>
        </p:nvSpPr>
        <p:spPr>
          <a:xfrm>
            <a:off x="4381500" y="4591050"/>
            <a:ext cx="3238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Caso utile per disambiguazione e personaggi ricorrenti.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7AED50B0-7F64-418B-879F-ED824DF2E08B}"/>
              </a:ext>
            </a:extLst>
          </p:cNvPr>
          <p:cNvSpPr>
            <a:spLocks noGrp="1"/>
          </p:cNvSpPr>
          <p:nvPr/>
        </p:nvSpPr>
        <p:spPr>
          <a:xfrm>
            <a:off x="8362950" y="41910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Death Note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1A0C6CEB-7431-420D-B945-E9C515237839}"/>
              </a:ext>
            </a:extLst>
          </p:cNvPr>
          <p:cNvSpPr>
            <a:spLocks noGrp="1"/>
          </p:cNvSpPr>
          <p:nvPr/>
        </p:nvSpPr>
        <p:spPr>
          <a:xfrm>
            <a:off x="8362950" y="4591050"/>
            <a:ext cx="3238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Caso denso di ambiguita morale e funzioni narrative forti.</a:t>
            </a:r>
          </a:p>
        </p:txBody>
      </p:sp>
    </p:spTree>
    <p:extLst>
      <p:ext uri="{BB962C8B-B14F-4D97-AF65-F5344CB8AC3E}">
        <p14:creationId xmlns:p14="http://schemas.microsoft.com/office/powerpoint/2010/main" val="7869416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5AE6E749-CA4C-43C8-BEED-D6C19A77A5AC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6858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225" b="1">
                <a:solidFill>
                  <a:srgbClr val="0F172A"/>
                </a:solidFill>
              </a:defRPr>
            </a:pPr>
            <a:r>
              <a:rPr sz="3225" b="1">
                <a:solidFill>
                  <a:srgbClr val="0F172A"/>
                </a:solidFill>
              </a:rPr>
              <a:t>Il problema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20E90C9E-5910-4788-89D5-ED959CC3FB41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7810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475569"/>
                </a:solidFill>
              </a:defRPr>
            </a:pPr>
            <a:r>
              <a:rPr sz="1575" b="0">
                <a:solidFill>
                  <a:srgbClr val="475569"/>
                </a:solidFill>
              </a:rPr>
              <a:t>Per molti personaggi non è presente un archetipo narrativo strutturato: le entità esistono, ma il ruolo resta implicito.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ADB1F03-303C-4EA7-9722-1361DB60064D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11A4D47F-B975-451D-822A-5CE22E213BE3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02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E3B890C-1022-4CA8-8848-201F17606C34}"/>
              </a:ext>
            </a:extLst>
          </p:cNvPr>
          <p:cNvSpPr>
            <a:spLocks noGrp="1"/>
          </p:cNvSpPr>
          <p:nvPr/>
        </p:nvSpPr>
        <p:spPr>
          <a:xfrm>
            <a:off x="400050" y="2266950"/>
            <a:ext cx="2571750" cy="161925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87FD6B3-3A4B-4576-AB23-31FB57A8A4B3}"/>
              </a:ext>
            </a:extLst>
          </p:cNvPr>
          <p:cNvSpPr>
            <a:spLocks noGrp="1"/>
          </p:cNvSpPr>
          <p:nvPr/>
        </p:nvSpPr>
        <p:spPr>
          <a:xfrm>
            <a:off x="609600" y="2476500"/>
            <a:ext cx="2152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F43F5E"/>
                </a:solidFill>
              </a:defRPr>
            </a:pPr>
            <a:r>
              <a:rPr sz="3600" b="1">
                <a:solidFill>
                  <a:srgbClr val="F43F5E"/>
                </a:solidFill>
              </a:rPr>
              <a:t>Entità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A93B8A6-5FF4-4213-8453-D7C0732EC303}"/>
              </a:ext>
            </a:extLst>
          </p:cNvPr>
          <p:cNvSpPr>
            <a:spLocks noGrp="1"/>
          </p:cNvSpPr>
          <p:nvPr/>
        </p:nvSpPr>
        <p:spPr>
          <a:xfrm>
            <a:off x="609600" y="3086100"/>
            <a:ext cx="2152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personaggi e opere hanno QID e descrizioni Wikidata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46361446-7564-4C10-A7B4-E1B9DD790A81}"/>
              </a:ext>
            </a:extLst>
          </p:cNvPr>
          <p:cNvSpPr>
            <a:spLocks noGrp="1"/>
          </p:cNvSpPr>
          <p:nvPr/>
        </p:nvSpPr>
        <p:spPr>
          <a:xfrm>
            <a:off x="3352800" y="2266950"/>
            <a:ext cx="2571750" cy="161925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64A49A65-18B8-4C50-8696-5617647EFBAC}"/>
              </a:ext>
            </a:extLst>
          </p:cNvPr>
          <p:cNvSpPr>
            <a:spLocks noGrp="1"/>
          </p:cNvSpPr>
          <p:nvPr/>
        </p:nvSpPr>
        <p:spPr>
          <a:xfrm>
            <a:off x="3562350" y="2476500"/>
            <a:ext cx="2152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0F172A"/>
                </a:solidFill>
              </a:defRPr>
            </a:pPr>
            <a:r>
              <a:rPr sz="3600" b="1">
                <a:solidFill>
                  <a:srgbClr val="0F172A"/>
                </a:solidFill>
              </a:rPr>
              <a:t>Proprietà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1667458D-4F5A-412A-87A5-B991F9197143}"/>
              </a:ext>
            </a:extLst>
          </p:cNvPr>
          <p:cNvSpPr>
            <a:spLocks noGrp="1"/>
          </p:cNvSpPr>
          <p:nvPr/>
        </p:nvSpPr>
        <p:spPr>
          <a:xfrm>
            <a:off x="3562350" y="3086100"/>
            <a:ext cx="2152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P674 collega i personaggi; P9071 descrive il character type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6003F3DA-63D5-4A86-8D9A-E437FD41CBFF}"/>
              </a:ext>
            </a:extLst>
          </p:cNvPr>
          <p:cNvSpPr>
            <a:spLocks noGrp="1"/>
          </p:cNvSpPr>
          <p:nvPr/>
        </p:nvSpPr>
        <p:spPr>
          <a:xfrm>
            <a:off x="6305550" y="2266950"/>
            <a:ext cx="2571750" cy="161925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E5327EDE-CC62-4058-98C9-FEBD48F4CDAB}"/>
              </a:ext>
            </a:extLst>
          </p:cNvPr>
          <p:cNvSpPr>
            <a:spLocks noGrp="1"/>
          </p:cNvSpPr>
          <p:nvPr/>
        </p:nvSpPr>
        <p:spPr>
          <a:xfrm>
            <a:off x="6515100" y="2476500"/>
            <a:ext cx="2152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38BDF8"/>
                </a:solidFill>
              </a:defRPr>
            </a:pPr>
            <a:r>
              <a:rPr sz="3600" b="1">
                <a:solidFill>
                  <a:srgbClr val="38BDF8"/>
                </a:solidFill>
              </a:rPr>
              <a:t>Archetipo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A71F65C-97A7-41DE-8F3A-B7D22A1F7CEE}"/>
              </a:ext>
            </a:extLst>
          </p:cNvPr>
          <p:cNvSpPr>
            <a:spLocks noGrp="1"/>
          </p:cNvSpPr>
          <p:nvPr/>
        </p:nvSpPr>
        <p:spPr>
          <a:xfrm>
            <a:off x="6515100" y="3086100"/>
            <a:ext cx="21526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manca spesso una classificazione narrativa vera e propria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4780C95-8D57-4D39-BDE3-F4C64ECA747F}"/>
              </a:ext>
            </a:extLst>
          </p:cNvPr>
          <p:cNvSpPr>
            <a:spLocks noGrp="1"/>
          </p:cNvSpPr>
          <p:nvPr/>
        </p:nvSpPr>
        <p:spPr>
          <a:xfrm>
            <a:off x="9258300" y="2266950"/>
            <a:ext cx="2533650" cy="161925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DBCA8984-3300-4F7F-B5AC-49A4B6483C72}"/>
              </a:ext>
            </a:extLst>
          </p:cNvPr>
          <p:cNvSpPr>
            <a:spLocks noGrp="1"/>
          </p:cNvSpPr>
          <p:nvPr/>
        </p:nvSpPr>
        <p:spPr>
          <a:xfrm>
            <a:off x="9467850" y="2476500"/>
            <a:ext cx="2114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22C55E"/>
                </a:solidFill>
              </a:defRPr>
            </a:pPr>
            <a:r>
              <a:rPr sz="3600" b="1">
                <a:solidFill>
                  <a:srgbClr val="22C55E"/>
                </a:solidFill>
              </a:rPr>
              <a:t>RDF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CF4A2B08-A4D1-425E-ABE3-BEEE941B7914}"/>
              </a:ext>
            </a:extLst>
          </p:cNvPr>
          <p:cNvSpPr>
            <a:spLocks noGrp="1"/>
          </p:cNvSpPr>
          <p:nvPr/>
        </p:nvSpPr>
        <p:spPr>
          <a:xfrm>
            <a:off x="9467850" y="3086100"/>
            <a:ext cx="21145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arricchimento proposto solo dopo verifica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1D040400-96C8-472C-89BD-606F68494058}"/>
              </a:ext>
            </a:extLst>
          </p:cNvPr>
          <p:cNvSpPr>
            <a:spLocks noGrp="1"/>
          </p:cNvSpPr>
          <p:nvPr/>
        </p:nvSpPr>
        <p:spPr>
          <a:xfrm>
            <a:off x="400050" y="4914900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Tesi del progetto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9CB63B3C-46A5-498E-BE45-1DF4F9CA9DCF}"/>
              </a:ext>
            </a:extLst>
          </p:cNvPr>
          <p:cNvSpPr>
            <a:spLocks noGrp="1"/>
          </p:cNvSpPr>
          <p:nvPr/>
        </p:nvSpPr>
        <p:spPr>
          <a:xfrm>
            <a:off x="2914650" y="4876800"/>
            <a:ext cx="8191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475569"/>
                </a:solidFill>
              </a:defRPr>
            </a:pPr>
            <a:r>
              <a:rPr sz="1800" b="0">
                <a:solidFill>
                  <a:srgbClr val="475569"/>
                </a:solidFill>
              </a:rPr>
              <a:t>Descriviamo entità e proprietà, poi usiamo SPARQL e LLM per trasformare l’archetipo da interpretazione testuale a dato verificabile.</a:t>
            </a:r>
          </a:p>
        </p:txBody>
      </p:sp>
    </p:spTree>
    <p:extLst>
      <p:ext uri="{BB962C8B-B14F-4D97-AF65-F5344CB8AC3E}">
        <p14:creationId xmlns:p14="http://schemas.microsoft.com/office/powerpoint/2010/main" val="4118730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tangolo 23">
            <a:extLst>
              <a:ext uri="{FF2B5EF4-FFF2-40B4-BE49-F238E27FC236}">
                <a16:creationId xmlns:a16="http://schemas.microsoft.com/office/drawing/2014/main" id="{9F4A53CA-1987-441D-8807-04EFE976A741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Pipeline metodologica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FB8F148-2E04-4113-AE58-3C7E9A3D5990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La pipeline separa esplorazione, misura del gap, proposta interpretativa e pubblicazione dei dati.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E98C17D-6748-4C5E-BFBB-B89A22ACBBB6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9F302BBF-3FEC-4D2B-84C7-107474610376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06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63FD2528-0328-4117-A475-AEF2DF8E47C7}"/>
              </a:ext>
            </a:extLst>
          </p:cNvPr>
          <p:cNvSpPr>
            <a:spLocks noGrp="1"/>
          </p:cNvSpPr>
          <p:nvPr/>
        </p:nvSpPr>
        <p:spPr>
          <a:xfrm>
            <a:off x="533400" y="1943100"/>
            <a:ext cx="11125200" cy="38290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1603E4B-EC62-46D8-B4DD-85E457D4DCCD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43F5E"/>
                </a:solidFill>
              </a:defRPr>
            </a:pPr>
            <a:r>
              <a:rPr sz="2100" b="1">
                <a:solidFill>
                  <a:srgbClr val="F43F5E"/>
                </a:solidFill>
              </a:rPr>
              <a:t>01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EC62E75-B525-4B84-877D-4377ABB5C50A}"/>
              </a:ext>
            </a:extLst>
          </p:cNvPr>
          <p:cNvSpPr>
            <a:spLocks noGrp="1"/>
          </p:cNvSpPr>
          <p:nvPr/>
        </p:nvSpPr>
        <p:spPr>
          <a:xfrm>
            <a:off x="1543050" y="22669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Disambiguazione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1F4CD3E6-3B99-4C9D-A81C-2AFA739DA1B7}"/>
              </a:ext>
            </a:extLst>
          </p:cNvPr>
          <p:cNvSpPr>
            <a:spLocks noGrp="1"/>
          </p:cNvSpPr>
          <p:nvPr/>
        </p:nvSpPr>
        <p:spPr>
          <a:xfrm>
            <a:off x="1543050" y="2628900"/>
            <a:ext cx="4191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Individuazione delle entita corrette per opere, anime, manga, franchise e omonimi.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4569B372-5333-4E2A-B4DF-90E430B46AD4}"/>
              </a:ext>
            </a:extLst>
          </p:cNvPr>
          <p:cNvSpPr>
            <a:spLocks noGrp="1"/>
          </p:cNvSpPr>
          <p:nvPr/>
        </p:nvSpPr>
        <p:spPr>
          <a:xfrm>
            <a:off x="876300" y="346710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38BDF8"/>
                </a:solidFill>
              </a:defRPr>
            </a:pPr>
            <a:r>
              <a:rPr sz="2100" b="1">
                <a:solidFill>
                  <a:srgbClr val="38BDF8"/>
                </a:solidFill>
              </a:rPr>
              <a:t>02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3C49214-279D-43E5-99F5-53A6DDFB9F1C}"/>
              </a:ext>
            </a:extLst>
          </p:cNvPr>
          <p:cNvSpPr>
            <a:spLocks noGrp="1"/>
          </p:cNvSpPr>
          <p:nvPr/>
        </p:nvSpPr>
        <p:spPr>
          <a:xfrm>
            <a:off x="1543050" y="346710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Estrazione personaggi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C123AD56-64E9-4125-AACF-82C19895C249}"/>
              </a:ext>
            </a:extLst>
          </p:cNvPr>
          <p:cNvSpPr>
            <a:spLocks noGrp="1"/>
          </p:cNvSpPr>
          <p:nvPr/>
        </p:nvSpPr>
        <p:spPr>
          <a:xfrm>
            <a:off x="1543050" y="3829050"/>
            <a:ext cx="4191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Uso di P674 per ottenere i personaggi collegati alle opere selezionate.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196ED4B6-36E7-4F8A-818A-3A59CCB4CF7B}"/>
              </a:ext>
            </a:extLst>
          </p:cNvPr>
          <p:cNvSpPr>
            <a:spLocks noGrp="1"/>
          </p:cNvSpPr>
          <p:nvPr/>
        </p:nvSpPr>
        <p:spPr>
          <a:xfrm>
            <a:off x="876300" y="46672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03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FAC852BF-AB92-4C2B-A4F3-84ED62D71FF5}"/>
              </a:ext>
            </a:extLst>
          </p:cNvPr>
          <p:cNvSpPr>
            <a:spLocks noGrp="1"/>
          </p:cNvSpPr>
          <p:nvPr/>
        </p:nvSpPr>
        <p:spPr>
          <a:xfrm>
            <a:off x="1543050" y="46672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Misura del gap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2314CC6B-E997-487B-9868-2C4998FCC6EA}"/>
              </a:ext>
            </a:extLst>
          </p:cNvPr>
          <p:cNvSpPr>
            <a:spLocks noGrp="1"/>
          </p:cNvSpPr>
          <p:nvPr/>
        </p:nvSpPr>
        <p:spPr>
          <a:xfrm>
            <a:off x="1543050" y="5029200"/>
            <a:ext cx="4191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Verifica di P9071 e conteggio di personaggi con o senza character type.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48466BF8-031B-4F4E-9063-9175DF52F29E}"/>
              </a:ext>
            </a:extLst>
          </p:cNvPr>
          <p:cNvSpPr>
            <a:spLocks noGrp="1"/>
          </p:cNvSpPr>
          <p:nvPr/>
        </p:nvSpPr>
        <p:spPr>
          <a:xfrm>
            <a:off x="6419850" y="22669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59E0B"/>
                </a:solidFill>
              </a:defRPr>
            </a:pPr>
            <a:r>
              <a:rPr sz="2100" b="1">
                <a:solidFill>
                  <a:srgbClr val="F59E0B"/>
                </a:solidFill>
              </a:rPr>
              <a:t>04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2E6E60EC-D6B0-4F4E-8C2D-1643E06D7ADE}"/>
              </a:ext>
            </a:extLst>
          </p:cNvPr>
          <p:cNvSpPr>
            <a:spLocks noGrp="1"/>
          </p:cNvSpPr>
          <p:nvPr/>
        </p:nvSpPr>
        <p:spPr>
          <a:xfrm>
            <a:off x="7086600" y="22669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UNION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EF724F2E-31BD-4FB7-A6F4-8F8A03F4D41B}"/>
              </a:ext>
            </a:extLst>
          </p:cNvPr>
          <p:cNvSpPr>
            <a:spLocks noGrp="1"/>
          </p:cNvSpPr>
          <p:nvPr/>
        </p:nvSpPr>
        <p:spPr>
          <a:xfrm>
            <a:off x="7086600" y="2628900"/>
            <a:ext cx="4191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Confronto tra character type ufficiale e modellazioni indirette tramite P31.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138BC61B-DF78-4838-95A2-7C73F8895422}"/>
              </a:ext>
            </a:extLst>
          </p:cNvPr>
          <p:cNvSpPr>
            <a:spLocks noGrp="1"/>
          </p:cNvSpPr>
          <p:nvPr/>
        </p:nvSpPr>
        <p:spPr>
          <a:xfrm>
            <a:off x="6419850" y="346710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43F5E"/>
                </a:solidFill>
              </a:defRPr>
            </a:pPr>
            <a:r>
              <a:rPr sz="2100" b="1">
                <a:solidFill>
                  <a:srgbClr val="F43F5E"/>
                </a:solidFill>
              </a:rPr>
              <a:t>05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78AC9E42-5E8D-4961-9306-E532EA707497}"/>
              </a:ext>
            </a:extLst>
          </p:cNvPr>
          <p:cNvSpPr>
            <a:spLocks noGrp="1"/>
          </p:cNvSpPr>
          <p:nvPr/>
        </p:nvSpPr>
        <p:spPr>
          <a:xfrm>
            <a:off x="7086600" y="346710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LLM e controllo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760A1ED7-77F7-40EC-BA18-8ACA82C650AC}"/>
              </a:ext>
            </a:extLst>
          </p:cNvPr>
          <p:cNvSpPr>
            <a:spLocks noGrp="1"/>
          </p:cNvSpPr>
          <p:nvPr/>
        </p:nvSpPr>
        <p:spPr>
          <a:xfrm>
            <a:off x="7086600" y="3829050"/>
            <a:ext cx="4191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Gli output LLM propongono archetipi; il progetto li normalizza e li verifica.</a:t>
            </a:r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4311E80B-C0B3-427F-83A6-1A7B5693EFE5}"/>
              </a:ext>
            </a:extLst>
          </p:cNvPr>
          <p:cNvSpPr>
            <a:spLocks noGrp="1"/>
          </p:cNvSpPr>
          <p:nvPr/>
        </p:nvSpPr>
        <p:spPr>
          <a:xfrm>
            <a:off x="6419850" y="4667250"/>
            <a:ext cx="55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06</a:t>
            </a: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DABE8B2B-6EB8-4F1B-9CC0-A254808B2026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F172A"/>
                </a:solidFill>
              </a:defRPr>
            </a:pPr>
            <a:r>
              <a:rPr sz="1725" b="1">
                <a:solidFill>
                  <a:srgbClr val="0F172A"/>
                </a:solidFill>
              </a:rPr>
              <a:t>RDF finale</a:t>
            </a:r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1BF39833-343A-47FB-9736-6B178A85FC43}"/>
              </a:ext>
            </a:extLst>
          </p:cNvPr>
          <p:cNvSpPr>
            <a:spLocks noGrp="1"/>
          </p:cNvSpPr>
          <p:nvPr/>
        </p:nvSpPr>
        <p:spPr>
          <a:xfrm>
            <a:off x="7086600" y="5029200"/>
            <a:ext cx="4191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Solo le ipotesi solide diventano triple con QID riusati o risorse locali.</a:t>
            </a:r>
          </a:p>
        </p:txBody>
      </p:sp>
    </p:spTree>
    <p:extLst>
      <p:ext uri="{BB962C8B-B14F-4D97-AF65-F5344CB8AC3E}">
        <p14:creationId xmlns:p14="http://schemas.microsoft.com/office/powerpoint/2010/main" val="11235412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tangolo 12">
            <a:extLst>
              <a:ext uri="{FF2B5EF4-FFF2-40B4-BE49-F238E27FC236}">
                <a16:creationId xmlns:a16="http://schemas.microsoft.com/office/drawing/2014/main" id="{C5DCC031-1144-4BA0-BD63-6C31E7F2A693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SPARQL: dalla label all'entita corretta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E8839A2-ABA9-475C-8EFA-5642D11446C1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Le prime query non assumono che il nome sia gia sufficiente: Naruto puo indicare manga, anime, franchise o altri item.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8A4D6E70-3446-4122-A9DF-F37882BD3D41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140EE0E8-89B4-4B42-B1E1-F9D1BB43EF86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07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2DE64CF2-B9F1-45FA-936D-01B3FF2E25BA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5143500" cy="2381250"/>
          </a:xfrm>
          <a:prstGeom prst="rect">
            <a:avLst/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A56E8FC6-C52F-461A-8144-887BCED09D8E}"/>
              </a:ext>
            </a:extLst>
          </p:cNvPr>
          <p:cNvSpPr>
            <a:spLocks noGrp="1"/>
          </p:cNvSpPr>
          <p:nvPr/>
        </p:nvSpPr>
        <p:spPr>
          <a:xfrm>
            <a:off x="971550" y="2400300"/>
            <a:ext cx="4572000" cy="1847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?item rdfs:label "Naruto"@en .</a:t>
            </a:r>
          </a:p>
          <a:p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?item ?uriProprieta ?valore .</a:t>
            </a:r>
          </a:p>
          <a:p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?proprieta wikibase:directClaim ?uriProprieta .</a:t>
            </a:r>
          </a:p>
          <a:p>
            <a:pPr algn="l">
              <a:defRPr sz="1650" b="0">
                <a:solidFill>
                  <a:srgbClr val="FFFFFF"/>
                </a:solidFill>
              </a:defRPr>
            </a:pPr>
            <a:r>
              <a:rPr sz="1650" b="0">
                <a:solidFill>
                  <a:srgbClr val="FFFFFF"/>
                </a:solidFill>
              </a:rPr>
              <a:t>SERVICE wikibase:label { ... }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A1B6FFD-7C01-43D5-B230-49AD656A18D6}"/>
              </a:ext>
            </a:extLst>
          </p:cNvPr>
          <p:cNvSpPr>
            <a:spLocks noGrp="1"/>
          </p:cNvSpPr>
          <p:nvPr/>
        </p:nvSpPr>
        <p:spPr>
          <a:xfrm>
            <a:off x="6572250" y="2305050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777112A-E49C-41DD-91E5-7599436C93F8}"/>
              </a:ext>
            </a:extLst>
          </p:cNvPr>
          <p:cNvSpPr>
            <a:spLocks noGrp="1"/>
          </p:cNvSpPr>
          <p:nvPr/>
        </p:nvSpPr>
        <p:spPr>
          <a:xfrm>
            <a:off x="6877050" y="2247900"/>
            <a:ext cx="41719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La query 1 costruisce il punto di partenza controllando label e descrizione.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2A8232F2-B289-489F-95F6-70DDE26B28C2}"/>
              </a:ext>
            </a:extLst>
          </p:cNvPr>
          <p:cNvSpPr>
            <a:spLocks noGrp="1"/>
          </p:cNvSpPr>
          <p:nvPr/>
        </p:nvSpPr>
        <p:spPr>
          <a:xfrm>
            <a:off x="6572250" y="3086100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F8E2F7ED-08C8-4DD9-AB8D-D5F77524C1E4}"/>
              </a:ext>
            </a:extLst>
          </p:cNvPr>
          <p:cNvSpPr>
            <a:spLocks noGrp="1"/>
          </p:cNvSpPr>
          <p:nvPr/>
        </p:nvSpPr>
        <p:spPr>
          <a:xfrm>
            <a:off x="6877050" y="3028950"/>
            <a:ext cx="41719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Il conteggio delle proprieta aiuta a distinguere item molto ricchi da omonimi o nodi meno pertinenti.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FC55B4DC-E3DD-4E0A-AECF-932AA7555494}"/>
              </a:ext>
            </a:extLst>
          </p:cNvPr>
          <p:cNvSpPr>
            <a:spLocks noGrp="1"/>
          </p:cNvSpPr>
          <p:nvPr/>
        </p:nvSpPr>
        <p:spPr>
          <a:xfrm>
            <a:off x="6572250" y="3867150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A38DA039-1DC8-4AF0-A369-A6ECA8EAC8F6}"/>
              </a:ext>
            </a:extLst>
          </p:cNvPr>
          <p:cNvSpPr>
            <a:spLocks noGrp="1"/>
          </p:cNvSpPr>
          <p:nvPr/>
        </p:nvSpPr>
        <p:spPr>
          <a:xfrm>
            <a:off x="6877050" y="3810000"/>
            <a:ext cx="41719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0F172A"/>
                </a:solidFill>
              </a:defRPr>
            </a:pPr>
            <a:r>
              <a:rPr sz="1725" b="0">
                <a:solidFill>
                  <a:srgbClr val="0F172A"/>
                </a:solidFill>
              </a:rPr>
              <a:t>Questo evita di far partire l'analisi da un'entita sbagliata.</a:t>
            </a:r>
          </a:p>
        </p:txBody>
      </p:sp>
    </p:spTree>
    <p:extLst>
      <p:ext uri="{BB962C8B-B14F-4D97-AF65-F5344CB8AC3E}">
        <p14:creationId xmlns:p14="http://schemas.microsoft.com/office/powerpoint/2010/main" val="31410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3EF1677F-F3E8-4184-9C90-200A791A9BE4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Analisi delle proprieta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7F22558C-EE3D-419C-BE0E-069854FA5591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Le query successive mostrano che Wikidata e ricco di proprieta, ma non tutte descrivono la dimensione narrativa.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4D09F48B-85DD-4F75-9E9F-73709FDF5A09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40297DCB-924D-4632-86C5-A203F71762C2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08</a:t>
            </a:r>
          </a:p>
        </p:txBody>
      </p:sp>
      <p:pic>
        <p:nvPicPr>
          <p:cNvPr id="18" name="Immagin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12190" y="1962150"/>
            <a:ext cx="4471619" cy="3714750"/>
          </a:xfrm>
          <a:prstGeom prst="rect">
            <a:avLst/>
          </a:prstGeom>
        </p:spPr>
      </p:pic>
      <p:sp>
        <p:nvSpPr>
          <p:cNvPr id="6" name="Rettangolo 5">
            <a:extLst>
              <a:ext uri="{FF2B5EF4-FFF2-40B4-BE49-F238E27FC236}">
                <a16:creationId xmlns:a16="http://schemas.microsoft.com/office/drawing/2014/main" id="{CE7B0C9A-8612-4803-B1B3-FE4027135FD9}"/>
              </a:ext>
            </a:extLst>
          </p:cNvPr>
          <p:cNvSpPr>
            <a:spLocks noGrp="1"/>
          </p:cNvSpPr>
          <p:nvPr/>
        </p:nvSpPr>
        <p:spPr>
          <a:xfrm>
            <a:off x="6286500" y="2095500"/>
            <a:ext cx="4953000" cy="31432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AE7333C-39A4-429D-8A8E-B22A455F31B8}"/>
              </a:ext>
            </a:extLst>
          </p:cNvPr>
          <p:cNvSpPr>
            <a:spLocks noGrp="1"/>
          </p:cNvSpPr>
          <p:nvPr/>
        </p:nvSpPr>
        <p:spPr>
          <a:xfrm>
            <a:off x="6629400" y="241935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Cosa emerge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E261AC68-C846-46F1-9414-F745A758D284}"/>
              </a:ext>
            </a:extLst>
          </p:cNvPr>
          <p:cNvSpPr>
            <a:spLocks noGrp="1"/>
          </p:cNvSpPr>
          <p:nvPr/>
        </p:nvSpPr>
        <p:spPr>
          <a:xfrm>
            <a:off x="6629400" y="312420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9BCFB066-4394-4BDC-B2B6-2E522F189FF0}"/>
              </a:ext>
            </a:extLst>
          </p:cNvPr>
          <p:cNvSpPr>
            <a:spLocks noGrp="1"/>
          </p:cNvSpPr>
          <p:nvPr/>
        </p:nvSpPr>
        <p:spPr>
          <a:xfrm>
            <a:off x="6934200" y="3067050"/>
            <a:ext cx="3695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Molte proprieta descrivono opere, identificativi, edizioni o collegamenti.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2928E030-8BE0-4192-97EE-E5DB091BE5F7}"/>
              </a:ext>
            </a:extLst>
          </p:cNvPr>
          <p:cNvSpPr>
            <a:spLocks noGrp="1"/>
          </p:cNvSpPr>
          <p:nvPr/>
        </p:nvSpPr>
        <p:spPr>
          <a:xfrm>
            <a:off x="6629400" y="384810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25DD58D8-6F5F-4A7D-91CF-1D9852145491}"/>
              </a:ext>
            </a:extLst>
          </p:cNvPr>
          <p:cNvSpPr>
            <a:spLocks noGrp="1"/>
          </p:cNvSpPr>
          <p:nvPr/>
        </p:nvSpPr>
        <p:spPr>
          <a:xfrm>
            <a:off x="6934200" y="3790950"/>
            <a:ext cx="3695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P674 e utile per passare dall'opera ai personaggi.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B70C6B9D-4B73-4E56-91B9-8611B4652AE2}"/>
              </a:ext>
            </a:extLst>
          </p:cNvPr>
          <p:cNvSpPr>
            <a:spLocks noGrp="1"/>
          </p:cNvSpPr>
          <p:nvPr/>
        </p:nvSpPr>
        <p:spPr>
          <a:xfrm>
            <a:off x="6629400" y="457200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A1980EA8-2D14-41DE-AD9F-C69E41390925}"/>
              </a:ext>
            </a:extLst>
          </p:cNvPr>
          <p:cNvSpPr>
            <a:spLocks noGrp="1"/>
          </p:cNvSpPr>
          <p:nvPr/>
        </p:nvSpPr>
        <p:spPr>
          <a:xfrm>
            <a:off x="6934200" y="4514850"/>
            <a:ext cx="36957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0F172A"/>
                </a:solidFill>
              </a:defRPr>
            </a:pPr>
            <a:r>
              <a:rPr sz="1650" b="0">
                <a:solidFill>
                  <a:srgbClr val="0F172A"/>
                </a:solidFill>
              </a:rPr>
              <a:t>La funzione narrativa resta meno presente e meno omogenea.</a:t>
            </a:r>
          </a:p>
        </p:txBody>
      </p:sp>
    </p:spTree>
    <p:extLst>
      <p:ext uri="{BB962C8B-B14F-4D97-AF65-F5344CB8AC3E}">
        <p14:creationId xmlns:p14="http://schemas.microsoft.com/office/powerpoint/2010/main" val="1303341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tangolo 19">
            <a:extLst>
              <a:ext uri="{FF2B5EF4-FFF2-40B4-BE49-F238E27FC236}">
                <a16:creationId xmlns:a16="http://schemas.microsoft.com/office/drawing/2014/main" id="{69236377-41E7-4808-A584-6C01B20EE0C5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Evidenza del gap: P9071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16F06CC6-DDDB-44AC-926F-1AC4AA024B4B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P9071 e la proprieta Wikidata pensata per registrare il character type, ma nel campione e scarsamente valorizzata.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06C2ADDB-B212-4D03-8676-23CC6F09ACED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215AB1BF-E8C1-4161-A961-E0B11134C632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09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CAE5687-1B90-4AC2-8C36-F244227BBAC2}"/>
              </a:ext>
            </a:extLst>
          </p:cNvPr>
          <p:cNvSpPr>
            <a:spLocks noGrp="1"/>
          </p:cNvSpPr>
          <p:nvPr/>
        </p:nvSpPr>
        <p:spPr>
          <a:xfrm>
            <a:off x="838200" y="2190750"/>
            <a:ext cx="2476500" cy="1447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5AB81CC-AE4E-4C4F-9007-F7E718020E1B}"/>
              </a:ext>
            </a:extLst>
          </p:cNvPr>
          <p:cNvSpPr>
            <a:spLocks noGrp="1"/>
          </p:cNvSpPr>
          <p:nvPr/>
        </p:nvSpPr>
        <p:spPr>
          <a:xfrm>
            <a:off x="1028700" y="23812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0F172A"/>
                </a:solidFill>
              </a:defRPr>
            </a:pPr>
            <a:r>
              <a:rPr sz="3300" b="1" dirty="0">
                <a:solidFill>
                  <a:srgbClr val="0F172A"/>
                </a:solidFill>
              </a:rPr>
              <a:t>111</a:t>
            </a:r>
            <a:r>
              <a:rPr lang="it-IT" sz="3300" b="1" dirty="0">
                <a:solidFill>
                  <a:srgbClr val="0F172A"/>
                </a:solidFill>
              </a:rPr>
              <a:t>5</a:t>
            </a:r>
            <a:endParaRPr sz="3300" b="1" dirty="0">
              <a:solidFill>
                <a:srgbClr val="0F172A"/>
              </a:solidFill>
            </a:endParaRP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FE16E541-A8B4-4EE1-927F-F19CD8D10586}"/>
              </a:ext>
            </a:extLst>
          </p:cNvPr>
          <p:cNvSpPr>
            <a:spLocks noGrp="1"/>
          </p:cNvSpPr>
          <p:nvPr/>
        </p:nvSpPr>
        <p:spPr>
          <a:xfrm>
            <a:off x="1028700" y="2971800"/>
            <a:ext cx="2095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personaggi univoci nel campione corrente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2C55D6D0-5572-47C8-A7B1-EC4C981B1E7D}"/>
              </a:ext>
            </a:extLst>
          </p:cNvPr>
          <p:cNvSpPr>
            <a:spLocks noGrp="1"/>
          </p:cNvSpPr>
          <p:nvPr/>
        </p:nvSpPr>
        <p:spPr>
          <a:xfrm>
            <a:off x="3714750" y="2190750"/>
            <a:ext cx="2476500" cy="1447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044566E9-CE8E-4599-98B6-DE15417C0E5F}"/>
              </a:ext>
            </a:extLst>
          </p:cNvPr>
          <p:cNvSpPr>
            <a:spLocks noGrp="1"/>
          </p:cNvSpPr>
          <p:nvPr/>
        </p:nvSpPr>
        <p:spPr>
          <a:xfrm>
            <a:off x="3905250" y="23812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F43F5E"/>
                </a:solidFill>
              </a:defRPr>
            </a:pPr>
            <a:r>
              <a:rPr lang="it-IT" sz="3300" b="1" dirty="0">
                <a:solidFill>
                  <a:srgbClr val="F43F5E"/>
                </a:solidFill>
              </a:rPr>
              <a:t>8</a:t>
            </a:r>
            <a:endParaRPr sz="3300" b="1" dirty="0">
              <a:solidFill>
                <a:srgbClr val="F43F5E"/>
              </a:solidFill>
            </a:endParaRP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FA2B8B21-B954-4D13-BE38-C3E90D2BAF7E}"/>
              </a:ext>
            </a:extLst>
          </p:cNvPr>
          <p:cNvSpPr>
            <a:spLocks noGrp="1"/>
          </p:cNvSpPr>
          <p:nvPr/>
        </p:nvSpPr>
        <p:spPr>
          <a:xfrm>
            <a:off x="3905250" y="2971800"/>
            <a:ext cx="2095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personaggi univoci con character type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A334383-E827-414E-AF12-3399FCE2C446}"/>
              </a:ext>
            </a:extLst>
          </p:cNvPr>
          <p:cNvSpPr>
            <a:spLocks noGrp="1"/>
          </p:cNvSpPr>
          <p:nvPr/>
        </p:nvSpPr>
        <p:spPr>
          <a:xfrm>
            <a:off x="6591300" y="2190750"/>
            <a:ext cx="2476500" cy="1447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5C9DB0CD-C8CE-45EF-BC30-F4D82A9A8E80}"/>
              </a:ext>
            </a:extLst>
          </p:cNvPr>
          <p:cNvSpPr>
            <a:spLocks noGrp="1"/>
          </p:cNvSpPr>
          <p:nvPr/>
        </p:nvSpPr>
        <p:spPr>
          <a:xfrm>
            <a:off x="6781800" y="23812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38BDF8"/>
                </a:solidFill>
              </a:defRPr>
            </a:pPr>
            <a:r>
              <a:rPr sz="3300" b="1">
                <a:solidFill>
                  <a:srgbClr val="38BDF8"/>
                </a:solidFill>
              </a:rPr>
              <a:t>1107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C5D3B95B-8B8D-4482-9028-94A50254E14A}"/>
              </a:ext>
            </a:extLst>
          </p:cNvPr>
          <p:cNvSpPr>
            <a:spLocks noGrp="1"/>
          </p:cNvSpPr>
          <p:nvPr/>
        </p:nvSpPr>
        <p:spPr>
          <a:xfrm>
            <a:off x="6781800" y="2971800"/>
            <a:ext cx="2095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personaggi senza character type</a:t>
            </a:r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4F47A0F9-FC2E-4962-A678-A9863B2B63AD}"/>
              </a:ext>
            </a:extLst>
          </p:cNvPr>
          <p:cNvSpPr>
            <a:spLocks noGrp="1"/>
          </p:cNvSpPr>
          <p:nvPr/>
        </p:nvSpPr>
        <p:spPr>
          <a:xfrm>
            <a:off x="9467850" y="2190750"/>
            <a:ext cx="1809750" cy="1447800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3D37EC1E-3752-436C-B670-EDE76BAA0F11}"/>
              </a:ext>
            </a:extLst>
          </p:cNvPr>
          <p:cNvSpPr>
            <a:spLocks noGrp="1"/>
          </p:cNvSpPr>
          <p:nvPr/>
        </p:nvSpPr>
        <p:spPr>
          <a:xfrm>
            <a:off x="9658350" y="2381250"/>
            <a:ext cx="142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22C55E"/>
                </a:solidFill>
              </a:defRPr>
            </a:pPr>
            <a:r>
              <a:rPr sz="3300" b="1">
                <a:solidFill>
                  <a:srgbClr val="22C55E"/>
                </a:solidFill>
              </a:rPr>
              <a:t>4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B3B0E752-95DB-4370-9F0A-4E6E180A902C}"/>
              </a:ext>
            </a:extLst>
          </p:cNvPr>
          <p:cNvSpPr>
            <a:spLocks noGrp="1"/>
          </p:cNvSpPr>
          <p:nvPr/>
        </p:nvSpPr>
        <p:spPr>
          <a:xfrm>
            <a:off x="9658350" y="2971800"/>
            <a:ext cx="1428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475569"/>
                </a:solidFill>
              </a:defRPr>
            </a:pPr>
            <a:r>
              <a:rPr sz="1275" b="0">
                <a:solidFill>
                  <a:srgbClr val="475569"/>
                </a:solidFill>
              </a:rPr>
              <a:t>etichette di tipo emerse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4383F48-79A5-49F9-8DAB-B201CB47D6E7}"/>
              </a:ext>
            </a:extLst>
          </p:cNvPr>
          <p:cNvSpPr>
            <a:spLocks noGrp="1"/>
          </p:cNvSpPr>
          <p:nvPr/>
        </p:nvSpPr>
        <p:spPr>
          <a:xfrm>
            <a:off x="1619250" y="4762500"/>
            <a:ext cx="8953500" cy="85725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DDAE9219-FDB9-4985-9820-B44B067ED0C8}"/>
              </a:ext>
            </a:extLst>
          </p:cNvPr>
          <p:cNvSpPr>
            <a:spLocks noGrp="1"/>
          </p:cNvSpPr>
          <p:nvPr/>
        </p:nvSpPr>
        <p:spPr>
          <a:xfrm>
            <a:off x="1962150" y="4991100"/>
            <a:ext cx="1809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rPr sz="1800" b="1">
                <a:solidFill>
                  <a:srgbClr val="F59E0B"/>
                </a:solidFill>
              </a:rPr>
              <a:t>Interpretazione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28413AC2-43C9-4E75-BB0E-131407155EC3}"/>
              </a:ext>
            </a:extLst>
          </p:cNvPr>
          <p:cNvSpPr>
            <a:spLocks noGrp="1"/>
          </p:cNvSpPr>
          <p:nvPr/>
        </p:nvSpPr>
        <p:spPr>
          <a:xfrm>
            <a:off x="3905250" y="4953000"/>
            <a:ext cx="59055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475569"/>
                </a:solidFill>
              </a:defRPr>
            </a:pPr>
            <a:r>
              <a:rPr sz="1650" b="0">
                <a:solidFill>
                  <a:srgbClr val="475569"/>
                </a:solidFill>
              </a:rPr>
              <a:t>Il gap non riguarda pochi casi isolati: quasi tutto il campione resta privo di una classificazione narrativa esplicita.</a:t>
            </a:r>
          </a:p>
        </p:txBody>
      </p:sp>
    </p:spTree>
    <p:extLst>
      <p:ext uri="{BB962C8B-B14F-4D97-AF65-F5344CB8AC3E}">
        <p14:creationId xmlns:p14="http://schemas.microsoft.com/office/powerpoint/2010/main" val="1443397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D3D91781-16DD-4262-A9B4-F521FADC77B1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Quantificare la copertura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27C26EC-E6B3-4637-9BE5-FBB5076B961B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La Query 8 attuale rende visibile la sproporzione tra personaggi valorizzati e non valorizzati.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57903F24-D143-43A2-BD2B-E1F6495BDAA7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E3CBB13-EFAC-480E-AB65-0FFD3A76E68E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10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="685800" y="2095500"/>
          <a:ext cx="5905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ttangolo 5">
            <a:extLst>
              <a:ext uri="{FF2B5EF4-FFF2-40B4-BE49-F238E27FC236}">
                <a16:creationId xmlns:a16="http://schemas.microsoft.com/office/drawing/2014/main" id="{75FFB620-2A39-4944-913B-357F45763883}"/>
              </a:ext>
            </a:extLst>
          </p:cNvPr>
          <p:cNvSpPr>
            <a:spLocks noGrp="1"/>
          </p:cNvSpPr>
          <p:nvPr/>
        </p:nvSpPr>
        <p:spPr>
          <a:xfrm>
            <a:off x="7239000" y="2362200"/>
            <a:ext cx="3810000" cy="24003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6E150E74-F9C4-4CBC-8C06-CE4191284F44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Lettura del dato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07D7CDCE-A64F-434F-9A5C-3A1E958493E7}"/>
              </a:ext>
            </a:extLst>
          </p:cNvPr>
          <p:cNvSpPr>
            <a:spLocks noGrp="1"/>
          </p:cNvSpPr>
          <p:nvPr/>
        </p:nvSpPr>
        <p:spPr>
          <a:xfrm>
            <a:off x="7562850" y="3295650"/>
            <a:ext cx="295275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>
                <a:solidFill>
                  <a:srgbClr val="475569"/>
                </a:solidFill>
              </a:rPr>
              <a:t>Il dato non dice che gli archetipi non esistono nella lettura narrativa; dice che non sono rappresentati in modo strutturato e interrogabile su Wikidata.</a:t>
            </a:r>
          </a:p>
        </p:txBody>
      </p:sp>
    </p:spTree>
    <p:extLst>
      <p:ext uri="{BB962C8B-B14F-4D97-AF65-F5344CB8AC3E}">
        <p14:creationId xmlns:p14="http://schemas.microsoft.com/office/powerpoint/2010/main" val="1170887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tangolo 20">
            <a:extLst>
              <a:ext uri="{FF2B5EF4-FFF2-40B4-BE49-F238E27FC236}">
                <a16:creationId xmlns:a16="http://schemas.microsoft.com/office/drawing/2014/main" id="{C1AB36DB-DBCB-427F-B78E-2CA2D1A60AB2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Che cos'e uno stock character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8A4726F4-1577-4EFC-8ABA-D04874EBFBA1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Uno stock character e un tipo narrativo ricorrente: un modello di personaggio riconoscibile oltre la singola opera.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0DE02E31-04E8-4015-AE4B-9E0849D27DCC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E3F2218A-B609-4ECB-831C-E0D020EE3031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11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055E31AB-4042-472D-86C5-E7E20FECE16F}"/>
              </a:ext>
            </a:extLst>
          </p:cNvPr>
          <p:cNvSpPr>
            <a:spLocks noGrp="1"/>
          </p:cNvSpPr>
          <p:nvPr/>
        </p:nvSpPr>
        <p:spPr>
          <a:xfrm>
            <a:off x="685800" y="2076450"/>
            <a:ext cx="3143250" cy="25717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6105A4D3-1FA0-475F-83C3-4D89D5564AA3}"/>
              </a:ext>
            </a:extLst>
          </p:cNvPr>
          <p:cNvSpPr>
            <a:spLocks noGrp="1"/>
          </p:cNvSpPr>
          <p:nvPr/>
        </p:nvSpPr>
        <p:spPr>
          <a:xfrm>
            <a:off x="1028700" y="23812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43F5E"/>
                </a:solidFill>
              </a:defRPr>
            </a:pPr>
            <a:r>
              <a:rPr sz="2100" b="1">
                <a:solidFill>
                  <a:srgbClr val="F43F5E"/>
                </a:solidFill>
              </a:rPr>
              <a:t>Esempi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124C9C3F-86D1-4F30-BA6C-AFBA748D173B}"/>
              </a:ext>
            </a:extLst>
          </p:cNvPr>
          <p:cNvSpPr>
            <a:spLocks noGrp="1"/>
          </p:cNvSpPr>
          <p:nvPr/>
        </p:nvSpPr>
        <p:spPr>
          <a:xfrm>
            <a:off x="1028700" y="3086100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228FAD85-3E5B-4747-A88D-56899B585545}"/>
              </a:ext>
            </a:extLst>
          </p:cNvPr>
          <p:cNvSpPr>
            <a:spLocks noGrp="1"/>
          </p:cNvSpPr>
          <p:nvPr/>
        </p:nvSpPr>
        <p:spPr>
          <a:xfrm>
            <a:off x="1333500" y="3028950"/>
            <a:ext cx="18859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villain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4D0DAF98-42C3-40FB-B32D-06A50D157152}"/>
              </a:ext>
            </a:extLst>
          </p:cNvPr>
          <p:cNvSpPr>
            <a:spLocks noGrp="1"/>
          </p:cNvSpPr>
          <p:nvPr/>
        </p:nvSpPr>
        <p:spPr>
          <a:xfrm>
            <a:off x="1028700" y="3514725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9993739-327D-49C2-89C1-A240A612D2EA}"/>
              </a:ext>
            </a:extLst>
          </p:cNvPr>
          <p:cNvSpPr>
            <a:spLocks noGrp="1"/>
          </p:cNvSpPr>
          <p:nvPr/>
        </p:nvSpPr>
        <p:spPr>
          <a:xfrm>
            <a:off x="1333500" y="3457575"/>
            <a:ext cx="18859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antihero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4D5C919-DFB6-46DA-95E2-D44310B244B9}"/>
              </a:ext>
            </a:extLst>
          </p:cNvPr>
          <p:cNvSpPr>
            <a:spLocks noGrp="1"/>
          </p:cNvSpPr>
          <p:nvPr/>
        </p:nvSpPr>
        <p:spPr>
          <a:xfrm>
            <a:off x="1028700" y="3943350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CC9E8706-6CDF-4EAC-85F5-327E81FDEA2E}"/>
              </a:ext>
            </a:extLst>
          </p:cNvPr>
          <p:cNvSpPr>
            <a:spLocks noGrp="1"/>
          </p:cNvSpPr>
          <p:nvPr/>
        </p:nvSpPr>
        <p:spPr>
          <a:xfrm>
            <a:off x="1333500" y="3886200"/>
            <a:ext cx="18859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tragic hero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8F39C50-B112-4C51-A10A-36A7F6E14709}"/>
              </a:ext>
            </a:extLst>
          </p:cNvPr>
          <p:cNvSpPr>
            <a:spLocks noGrp="1"/>
          </p:cNvSpPr>
          <p:nvPr/>
        </p:nvSpPr>
        <p:spPr>
          <a:xfrm>
            <a:off x="1028700" y="4371975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C32444AB-E544-4D12-9B6B-C223AD3F5305}"/>
              </a:ext>
            </a:extLst>
          </p:cNvPr>
          <p:cNvSpPr>
            <a:spLocks noGrp="1"/>
          </p:cNvSpPr>
          <p:nvPr/>
        </p:nvSpPr>
        <p:spPr>
          <a:xfrm>
            <a:off x="1333500" y="4314825"/>
            <a:ext cx="188595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0F172A"/>
                </a:solidFill>
              </a:defRPr>
            </a:pPr>
            <a:r>
              <a:rPr sz="1800" b="0">
                <a:solidFill>
                  <a:srgbClr val="0F172A"/>
                </a:solidFill>
              </a:rPr>
              <a:t>chosen one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5E3EF308-718C-4955-B146-00EE2F3FC6FB}"/>
              </a:ext>
            </a:extLst>
          </p:cNvPr>
          <p:cNvSpPr>
            <a:spLocks noGrp="1"/>
          </p:cNvSpPr>
          <p:nvPr/>
        </p:nvSpPr>
        <p:spPr>
          <a:xfrm>
            <a:off x="4514850" y="2076450"/>
            <a:ext cx="3143250" cy="25717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7C1B021B-4C4D-4AA3-86C5-ED7C79E50374}"/>
              </a:ext>
            </a:extLst>
          </p:cNvPr>
          <p:cNvSpPr>
            <a:spLocks noGrp="1"/>
          </p:cNvSpPr>
          <p:nvPr/>
        </p:nvSpPr>
        <p:spPr>
          <a:xfrm>
            <a:off x="4857750" y="23812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38BDF8"/>
                </a:solidFill>
              </a:defRPr>
            </a:pPr>
            <a:r>
              <a:rPr sz="2100" b="1">
                <a:solidFill>
                  <a:srgbClr val="38BDF8"/>
                </a:solidFill>
              </a:rPr>
              <a:t>A cosa serve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65316379-4722-4A9F-8026-0ED1913CD8BF}"/>
              </a:ext>
            </a:extLst>
          </p:cNvPr>
          <p:cNvSpPr>
            <a:spLocks noGrp="1"/>
          </p:cNvSpPr>
          <p:nvPr/>
        </p:nvSpPr>
        <p:spPr>
          <a:xfrm>
            <a:off x="4857750" y="3028950"/>
            <a:ext cx="22860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>
                <a:solidFill>
                  <a:srgbClr val="475569"/>
                </a:solidFill>
              </a:rPr>
              <a:t>Consente di descrivere la funzione narrativa, non solo l'esistenza del personaggio o l'opera in cui compare.</a:t>
            </a:r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60EE4DBB-2542-4825-913C-538EC4DCB856}"/>
              </a:ext>
            </a:extLst>
          </p:cNvPr>
          <p:cNvSpPr>
            <a:spLocks noGrp="1"/>
          </p:cNvSpPr>
          <p:nvPr/>
        </p:nvSpPr>
        <p:spPr>
          <a:xfrm>
            <a:off x="8343900" y="2076450"/>
            <a:ext cx="3143250" cy="257175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8676D2E6-C439-405E-AA7F-83384E7F3C68}"/>
              </a:ext>
            </a:extLst>
          </p:cNvPr>
          <p:cNvSpPr>
            <a:spLocks noGrp="1"/>
          </p:cNvSpPr>
          <p:nvPr/>
        </p:nvSpPr>
        <p:spPr>
          <a:xfrm>
            <a:off x="8686800" y="2381250"/>
            <a:ext cx="209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Nel progetto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F414E384-E038-4DC5-B68E-B35DDBC99D2D}"/>
              </a:ext>
            </a:extLst>
          </p:cNvPr>
          <p:cNvSpPr>
            <a:spLocks noGrp="1"/>
          </p:cNvSpPr>
          <p:nvPr/>
        </p:nvSpPr>
        <p:spPr>
          <a:xfrm>
            <a:off x="8686800" y="3028950"/>
            <a:ext cx="22860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>
                <a:solidFill>
                  <a:srgbClr val="475569"/>
                </a:solidFill>
              </a:rPr>
              <a:t>Se l'archetipo generale esiste in Wikidata lo riusiamo; se non esiste, creiamo una risorsa locale.</a:t>
            </a:r>
          </a:p>
        </p:txBody>
      </p:sp>
    </p:spTree>
    <p:extLst>
      <p:ext uri="{BB962C8B-B14F-4D97-AF65-F5344CB8AC3E}">
        <p14:creationId xmlns:p14="http://schemas.microsoft.com/office/powerpoint/2010/main" val="466706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tangolo 17">
            <a:extLst>
              <a:ext uri="{FF2B5EF4-FFF2-40B4-BE49-F238E27FC236}">
                <a16:creationId xmlns:a16="http://schemas.microsoft.com/office/drawing/2014/main" id="{746369B4-B486-4CCE-8648-A171EA178327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UNION: due percorsi per lo stesso problema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6056593-C961-4C57-A822-83BE89C7758F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La query 9 confronta la modellazione ufficiale con una modellazione indiretta basata su P31.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64CF9240-917D-40CC-9B93-A8D410FAFE5F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D581915F-E623-4046-90F7-FFC85C16F08E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12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3B56BF82-16D9-433A-9965-168818A2827E}"/>
              </a:ext>
            </a:extLst>
          </p:cNvPr>
          <p:cNvSpPr>
            <a:spLocks noGrp="1"/>
          </p:cNvSpPr>
          <p:nvPr/>
        </p:nvSpPr>
        <p:spPr>
          <a:xfrm>
            <a:off x="647700" y="2095500"/>
            <a:ext cx="4552950" cy="23812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8837CAC1-2FDE-4B75-8074-D258A2D1F1B5}"/>
              </a:ext>
            </a:extLst>
          </p:cNvPr>
          <p:cNvSpPr>
            <a:spLocks noGrp="1"/>
          </p:cNvSpPr>
          <p:nvPr/>
        </p:nvSpPr>
        <p:spPr>
          <a:xfrm>
            <a:off x="990600" y="24003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Percorso ufficiale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06096A0B-46C4-48E6-B8A3-0892BBF28BEF}"/>
              </a:ext>
            </a:extLst>
          </p:cNvPr>
          <p:cNvSpPr>
            <a:spLocks noGrp="1"/>
          </p:cNvSpPr>
          <p:nvPr/>
        </p:nvSpPr>
        <p:spPr>
          <a:xfrm>
            <a:off x="990600" y="3009900"/>
            <a:ext cx="35242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0">
                <a:solidFill>
                  <a:srgbClr val="F43F5E"/>
                </a:solidFill>
              </a:defRPr>
            </a:pPr>
            <a:r>
              <a:rPr sz="2025" b="0">
                <a:solidFill>
                  <a:srgbClr val="F43F5E"/>
                </a:solidFill>
              </a:rPr>
              <a:t>?personaggio</a:t>
            </a:r>
          </a:p>
          <a:p>
            <a:pPr algn="l">
              <a:defRPr sz="2025" b="0">
                <a:solidFill>
                  <a:srgbClr val="F43F5E"/>
                </a:solidFill>
              </a:defRPr>
            </a:pPr>
            <a:r>
              <a:rPr sz="2025" b="0">
                <a:solidFill>
                  <a:srgbClr val="F43F5E"/>
                </a:solidFill>
              </a:rPr>
              <a:t>  wdt:P9071 ?tipo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E095309-D302-4962-A68B-B1AEF0F08CF6}"/>
              </a:ext>
            </a:extLst>
          </p:cNvPr>
          <p:cNvSpPr>
            <a:spLocks noGrp="1"/>
          </p:cNvSpPr>
          <p:nvPr/>
        </p:nvSpPr>
        <p:spPr>
          <a:xfrm>
            <a:off x="990600" y="39243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475569"/>
                </a:solidFill>
              </a:defRPr>
            </a:pPr>
            <a:r>
              <a:rPr sz="1425" b="0">
                <a:solidFill>
                  <a:srgbClr val="475569"/>
                </a:solidFill>
              </a:rPr>
              <a:t>Il character type e dichiarato direttamente.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AC7327-4A81-4028-BFA2-4294C00E29E3}"/>
              </a:ext>
            </a:extLst>
          </p:cNvPr>
          <p:cNvSpPr>
            <a:spLocks noGrp="1"/>
          </p:cNvSpPr>
          <p:nvPr/>
        </p:nvSpPr>
        <p:spPr>
          <a:xfrm>
            <a:off x="6991350" y="2095500"/>
            <a:ext cx="4552950" cy="23812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72D0836B-6E49-4230-8BAE-FCB36C80A93E}"/>
              </a:ext>
            </a:extLst>
          </p:cNvPr>
          <p:cNvSpPr>
            <a:spLocks noGrp="1"/>
          </p:cNvSpPr>
          <p:nvPr/>
        </p:nvSpPr>
        <p:spPr>
          <a:xfrm>
            <a:off x="7334250" y="24003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Percorso indiretto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CC4C5B9F-1FB6-46CD-A932-DB2F158FEA35}"/>
              </a:ext>
            </a:extLst>
          </p:cNvPr>
          <p:cNvSpPr>
            <a:spLocks noGrp="1"/>
          </p:cNvSpPr>
          <p:nvPr/>
        </p:nvSpPr>
        <p:spPr>
          <a:xfrm>
            <a:off x="7334250" y="3009900"/>
            <a:ext cx="37147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025" b="0">
                <a:solidFill>
                  <a:srgbClr val="38BDF8"/>
                </a:solidFill>
              </a:defRPr>
            </a:pPr>
            <a:r>
              <a:rPr sz="2025" b="0">
                <a:solidFill>
                  <a:srgbClr val="38BDF8"/>
                </a:solidFill>
              </a:rPr>
              <a:t>?personaggio</a:t>
            </a:r>
          </a:p>
          <a:p>
            <a:pPr algn="l">
              <a:defRPr sz="2025" b="0">
                <a:solidFill>
                  <a:srgbClr val="38BDF8"/>
                </a:solidFill>
              </a:defRPr>
            </a:pPr>
            <a:r>
              <a:rPr sz="2025" b="0">
                <a:solidFill>
                  <a:srgbClr val="38BDF8"/>
                </a:solidFill>
              </a:rPr>
              <a:t>  wdt:P31 ?stockCharacter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2779CEDA-3720-4FD0-8483-9C3DD8EDB7CB}"/>
              </a:ext>
            </a:extLst>
          </p:cNvPr>
          <p:cNvSpPr>
            <a:spLocks noGrp="1"/>
          </p:cNvSpPr>
          <p:nvPr/>
        </p:nvSpPr>
        <p:spPr>
          <a:xfrm>
            <a:off x="7334250" y="3924300"/>
            <a:ext cx="3333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475569"/>
                </a:solidFill>
              </a:defRPr>
            </a:pPr>
            <a:r>
              <a:rPr sz="1425" b="0">
                <a:solidFill>
                  <a:srgbClr val="475569"/>
                </a:solidFill>
              </a:rPr>
              <a:t>Il personaggio e istanza di un archetipo gia esistente.</a:t>
            </a:r>
          </a:p>
        </p:txBody>
      </p:sp>
      <p:sp>
        <p:nvSpPr>
          <p:cNvPr id="13" name="Connettore dritto 12">
            <a:extLst>
              <a:ext uri="{FF2B5EF4-FFF2-40B4-BE49-F238E27FC236}">
                <a16:creationId xmlns:a16="http://schemas.microsoft.com/office/drawing/2014/main" id="{C2858FEC-F712-499A-8E37-04F30E01174A}"/>
              </a:ext>
            </a:extLst>
          </p:cNvPr>
          <p:cNvSpPr>
            <a:spLocks noGrp="1"/>
          </p:cNvSpPr>
          <p:nvPr/>
        </p:nvSpPr>
        <p:spPr>
          <a:xfrm>
            <a:off x="5238750" y="3276600"/>
            <a:ext cx="1695450" cy="0"/>
          </a:xfrm>
          <a:prstGeom prst="line">
            <a:avLst/>
          </a:prstGeom>
          <a:noFill/>
          <a:ln w="285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075C6526-52F3-46C8-B0C4-9AA5FA9D1AE1}"/>
              </a:ext>
            </a:extLst>
          </p:cNvPr>
          <p:cNvSpPr>
            <a:spLocks noGrp="1"/>
          </p:cNvSpPr>
          <p:nvPr/>
        </p:nvSpPr>
        <p:spPr>
          <a:xfrm>
            <a:off x="5486400" y="2924175"/>
            <a:ext cx="11811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0F172A"/>
                </a:solidFill>
              </a:defRPr>
            </a:pPr>
            <a:r>
              <a:rPr sz="2250" b="1">
                <a:solidFill>
                  <a:srgbClr val="0F172A"/>
                </a:solidFill>
              </a:rPr>
              <a:t>UNION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1E30DA65-31B5-4B46-8EAB-B7124AB57977}"/>
              </a:ext>
            </a:extLst>
          </p:cNvPr>
          <p:cNvSpPr>
            <a:spLocks noGrp="1"/>
          </p:cNvSpPr>
          <p:nvPr/>
        </p:nvSpPr>
        <p:spPr>
          <a:xfrm>
            <a:off x="2266950" y="4914900"/>
            <a:ext cx="7658100" cy="800100"/>
          </a:xfrm>
          <a:prstGeom prst="rect">
            <a:avLst/>
          </a:prstGeom>
          <a:solidFill>
            <a:srgbClr val="FEF3C7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6D4EF7C7-7EFB-414E-ADEF-5322721B0303}"/>
              </a:ext>
            </a:extLst>
          </p:cNvPr>
          <p:cNvSpPr>
            <a:spLocks noGrp="1"/>
          </p:cNvSpPr>
          <p:nvPr/>
        </p:nvSpPr>
        <p:spPr>
          <a:xfrm>
            <a:off x="2590800" y="516255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59E0B"/>
                </a:solidFill>
              </a:defRPr>
            </a:pPr>
            <a:r>
              <a:rPr sz="1650" b="1">
                <a:solidFill>
                  <a:srgbClr val="F59E0B"/>
                </a:solidFill>
              </a:rPr>
              <a:t>Risultato metodologico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D7353C8-D980-4B75-95FE-D6B73CA207BE}"/>
              </a:ext>
            </a:extLst>
          </p:cNvPr>
          <p:cNvSpPr>
            <a:spLocks noGrp="1"/>
          </p:cNvSpPr>
          <p:nvPr/>
        </p:nvSpPr>
        <p:spPr>
          <a:xfrm>
            <a:off x="5143500" y="510540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475569"/>
                </a:solidFill>
              </a:defRPr>
            </a:pPr>
            <a:r>
              <a:rPr sz="1575" b="0">
                <a:solidFill>
                  <a:srgbClr val="475569"/>
                </a:solidFill>
              </a:rPr>
              <a:t>Il gap e anche un problema di modellazione frammentata.</a:t>
            </a:r>
          </a:p>
        </p:txBody>
      </p:sp>
    </p:spTree>
    <p:extLst>
      <p:ext uri="{BB962C8B-B14F-4D97-AF65-F5344CB8AC3E}">
        <p14:creationId xmlns:p14="http://schemas.microsoft.com/office/powerpoint/2010/main" val="19101819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tangolo 17">
            <a:extLst>
              <a:ext uri="{FF2B5EF4-FFF2-40B4-BE49-F238E27FC236}">
                <a16:creationId xmlns:a16="http://schemas.microsoft.com/office/drawing/2014/main" id="{846A7DA8-9709-4AE1-8E3C-0F6DB86ADA94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LLM come strumenti di proposta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BFD2E29D-057E-4C9B-98F0-61AE8669BF90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Gli LLM non sono trattati come fonte definitiva: servono a generare ipotesi narrative da sottoporre a controllo.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438E7B52-DF5A-4F0F-A49D-6C682EB8346F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6E9D762E-DD23-4AAD-AE06-0115248026BC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13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99B3395-31AC-4459-A3D1-C8DD560823FF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3238500" cy="24574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E247A4E-E2EF-4C12-838B-2FE316693107}"/>
              </a:ext>
            </a:extLst>
          </p:cNvPr>
          <p:cNvSpPr>
            <a:spLocks noGrp="1"/>
          </p:cNvSpPr>
          <p:nvPr/>
        </p:nvSpPr>
        <p:spPr>
          <a:xfrm>
            <a:off x="838200" y="2552700"/>
            <a:ext cx="152400" cy="152400"/>
          </a:xfrm>
          <a:prstGeom prst="rect">
            <a:avLst/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BC1DA4-A3C7-4A9D-AA15-D932746607D1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Zero-shot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474D7822-DA27-47CC-9CA1-49CAA09244B1}"/>
              </a:ext>
            </a:extLst>
          </p:cNvPr>
          <p:cNvSpPr>
            <a:spLocks noGrp="1"/>
          </p:cNvSpPr>
          <p:nvPr/>
        </p:nvSpPr>
        <p:spPr>
          <a:xfrm>
            <a:off x="838200" y="3105150"/>
            <a:ext cx="26670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475569"/>
                </a:solidFill>
              </a:defRPr>
            </a:pPr>
            <a:r>
              <a:rPr sz="1650" b="0">
                <a:solidFill>
                  <a:srgbClr val="475569"/>
                </a:solidFill>
              </a:rPr>
              <a:t>Produce rapidamente etichette, ma spesso con granularita instabile.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B82CADBD-31BD-4A64-992A-8A6027BBF98E}"/>
              </a:ext>
            </a:extLst>
          </p:cNvPr>
          <p:cNvSpPr>
            <a:spLocks noGrp="1"/>
          </p:cNvSpPr>
          <p:nvPr/>
        </p:nvSpPr>
        <p:spPr>
          <a:xfrm>
            <a:off x="4381500" y="2247900"/>
            <a:ext cx="3238500" cy="24574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A9E805A4-D00E-470F-9991-B821D80258EA}"/>
              </a:ext>
            </a:extLst>
          </p:cNvPr>
          <p:cNvSpPr>
            <a:spLocks noGrp="1"/>
          </p:cNvSpPr>
          <p:nvPr/>
        </p:nvSpPr>
        <p:spPr>
          <a:xfrm>
            <a:off x="4648200" y="2552700"/>
            <a:ext cx="152400" cy="15240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83B5FEB8-A557-4A61-B6BC-C1745EAFEE75}"/>
              </a:ext>
            </a:extLst>
          </p:cNvPr>
          <p:cNvSpPr>
            <a:spLocks noGrp="1"/>
          </p:cNvSpPr>
          <p:nvPr/>
        </p:nvSpPr>
        <p:spPr>
          <a:xfrm>
            <a:off x="4972050" y="241935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43F5E"/>
                </a:solidFill>
              </a:defRPr>
            </a:pPr>
            <a:r>
              <a:rPr sz="2100" b="1">
                <a:solidFill>
                  <a:srgbClr val="F43F5E"/>
                </a:solidFill>
              </a:rPr>
              <a:t>Few-shot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A45D43F-88A4-4BB4-A2D9-F2DF7B898CED}"/>
              </a:ext>
            </a:extLst>
          </p:cNvPr>
          <p:cNvSpPr>
            <a:spLocks noGrp="1"/>
          </p:cNvSpPr>
          <p:nvPr/>
        </p:nvSpPr>
        <p:spPr>
          <a:xfrm>
            <a:off x="4648200" y="3105150"/>
            <a:ext cx="26670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475569"/>
                </a:solidFill>
              </a:defRPr>
            </a:pPr>
            <a:r>
              <a:rPr sz="1650" b="0">
                <a:solidFill>
                  <a:srgbClr val="475569"/>
                </a:solidFill>
              </a:rPr>
              <a:t>Rende piu coerente il formato, ma gli esempi possono orientare troppo la risposta.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A4E3CF50-DB47-4842-A7EB-23CF6CA2BBBD}"/>
              </a:ext>
            </a:extLst>
          </p:cNvPr>
          <p:cNvSpPr>
            <a:spLocks noGrp="1"/>
          </p:cNvSpPr>
          <p:nvPr/>
        </p:nvSpPr>
        <p:spPr>
          <a:xfrm>
            <a:off x="8191500" y="2247900"/>
            <a:ext cx="3238500" cy="245745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25CA0D28-3967-452D-8CDF-595DD9D86C1E}"/>
              </a:ext>
            </a:extLst>
          </p:cNvPr>
          <p:cNvSpPr>
            <a:spLocks noGrp="1"/>
          </p:cNvSpPr>
          <p:nvPr/>
        </p:nvSpPr>
        <p:spPr>
          <a:xfrm>
            <a:off x="8458200" y="2552700"/>
            <a:ext cx="152400" cy="152400"/>
          </a:xfrm>
          <a:prstGeom prst="rect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FA9678A-B1F3-4B8D-9D04-05F119BD507F}"/>
              </a:ext>
            </a:extLst>
          </p:cNvPr>
          <p:cNvSpPr>
            <a:spLocks noGrp="1"/>
          </p:cNvSpPr>
          <p:nvPr/>
        </p:nvSpPr>
        <p:spPr>
          <a:xfrm>
            <a:off x="8782050" y="241935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Zero-shot CoT</a:t>
            </a:r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3B127ED-C96F-44D0-8117-26C93CB57AC5}"/>
              </a:ext>
            </a:extLst>
          </p:cNvPr>
          <p:cNvSpPr>
            <a:spLocks noGrp="1"/>
          </p:cNvSpPr>
          <p:nvPr/>
        </p:nvSpPr>
        <p:spPr>
          <a:xfrm>
            <a:off x="8458200" y="3105150"/>
            <a:ext cx="2667000" cy="1009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475569"/>
                </a:solidFill>
              </a:defRPr>
            </a:pPr>
            <a:r>
              <a:rPr sz="1650" b="0">
                <a:solidFill>
                  <a:srgbClr val="475569"/>
                </a:solidFill>
              </a:rPr>
              <a:t>Esplicita meglio la motivazione e aiuta nei casi ambigui.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19074736-1ECE-4C97-A83A-B417AFF01DED}"/>
              </a:ext>
            </a:extLst>
          </p:cNvPr>
          <p:cNvSpPr>
            <a:spLocks noGrp="1"/>
          </p:cNvSpPr>
          <p:nvPr/>
        </p:nvSpPr>
        <p:spPr>
          <a:xfrm>
            <a:off x="1352550" y="5391150"/>
            <a:ext cx="948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0F172A"/>
                </a:solidFill>
              </a:defRPr>
            </a:pPr>
            <a:r>
              <a:rPr lang="it-IT" b="1" dirty="0">
                <a:solidFill>
                  <a:srgbClr val="0F172A"/>
                </a:solidFill>
              </a:rPr>
              <a:t>Scelta metodologica: output testuale motivato → normalizzazione umana → controllo SPARQL → RDF.</a:t>
            </a:r>
          </a:p>
        </p:txBody>
      </p:sp>
    </p:spTree>
    <p:extLst>
      <p:ext uri="{BB962C8B-B14F-4D97-AF65-F5344CB8AC3E}">
        <p14:creationId xmlns:p14="http://schemas.microsoft.com/office/powerpoint/2010/main" val="1391582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tangolo 19">
            <a:extLst>
              <a:ext uri="{FF2B5EF4-FFF2-40B4-BE49-F238E27FC236}">
                <a16:creationId xmlns:a16="http://schemas.microsoft.com/office/drawing/2014/main" id="{039FE241-3B2E-4400-B430-0E5161506DDC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Da output LLM a QID verificato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D5F1FF67-0313-4D32-807E-1E443D149A75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La riconciliazione controlla che l'archetipo proposto abbia un item Wikidata coerente.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18B49F2F-8645-4B19-9A78-EDFE7D126DE1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82EE2A4-BA26-463C-A4F5-6F6BDD024FE0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14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4FE2619E-B49C-491F-9056-53ED58821C1E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5334000" cy="2190750"/>
          </a:xfrm>
          <a:prstGeom prst="rect">
            <a:avLst/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972FDA3-8464-46B2-ADF0-0C87C0D1697B}"/>
              </a:ext>
            </a:extLst>
          </p:cNvPr>
          <p:cNvSpPr>
            <a:spLocks noGrp="1"/>
          </p:cNvSpPr>
          <p:nvPr/>
        </p:nvSpPr>
        <p:spPr>
          <a:xfrm>
            <a:off x="1009650" y="2419350"/>
            <a:ext cx="476250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FILTER(REGEX(STR(?itemLabel), "^tragic hero$", "i"))</a:t>
            </a:r>
          </a:p>
          <a:p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?item wdt:P31 wd:Q636497 .</a:t>
            </a:r>
          </a:p>
          <a:p>
            <a:pPr algn="l">
              <a:defRPr sz="1575" b="0">
                <a:solidFill>
                  <a:srgbClr val="FFFFFF"/>
                </a:solidFill>
              </a:defRPr>
            </a:pPr>
            <a:r>
              <a:rPr sz="1575" b="0">
                <a:solidFill>
                  <a:srgbClr val="FFFFFF"/>
                </a:solidFill>
              </a:rPr>
              <a:t>OPTIONAL { ?item schema:description ?description }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F84D58F1-733F-4872-9FD4-0CB90B5E5DD3}"/>
              </a:ext>
            </a:extLst>
          </p:cNvPr>
          <p:cNvSpPr>
            <a:spLocks noGrp="1"/>
          </p:cNvSpPr>
          <p:nvPr/>
        </p:nvSpPr>
        <p:spPr>
          <a:xfrm>
            <a:off x="6762749" y="2152650"/>
            <a:ext cx="4098083" cy="26479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D97ACF0-B4C8-4029-A50B-4F48527D4306}"/>
              </a:ext>
            </a:extLst>
          </p:cNvPr>
          <p:cNvSpPr>
            <a:spLocks noGrp="1"/>
          </p:cNvSpPr>
          <p:nvPr/>
        </p:nvSpPr>
        <p:spPr>
          <a:xfrm>
            <a:off x="7086600" y="24574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Criteri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4BDD4B8C-9405-4F08-9D36-C1C76C1B2F9A}"/>
              </a:ext>
            </a:extLst>
          </p:cNvPr>
          <p:cNvSpPr>
            <a:spLocks noGrp="1"/>
          </p:cNvSpPr>
          <p:nvPr/>
        </p:nvSpPr>
        <p:spPr>
          <a:xfrm>
            <a:off x="7086600" y="3124200"/>
            <a:ext cx="152400" cy="152400"/>
          </a:xfrm>
          <a:prstGeom prst="rect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6FC155E3-133C-4275-B435-5A9984F2DE82}"/>
              </a:ext>
            </a:extLst>
          </p:cNvPr>
          <p:cNvSpPr>
            <a:spLocks noGrp="1"/>
          </p:cNvSpPr>
          <p:nvPr/>
        </p:nvSpPr>
        <p:spPr>
          <a:xfrm>
            <a:off x="7391400" y="3067050"/>
            <a:ext cx="2743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label coerente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8920270-EB52-4F22-9192-C5A626AFD81B}"/>
              </a:ext>
            </a:extLst>
          </p:cNvPr>
          <p:cNvSpPr>
            <a:spLocks noGrp="1"/>
          </p:cNvSpPr>
          <p:nvPr/>
        </p:nvSpPr>
        <p:spPr>
          <a:xfrm>
            <a:off x="7086600" y="3562350"/>
            <a:ext cx="152400" cy="152400"/>
          </a:xfrm>
          <a:prstGeom prst="rect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A2092609-E20F-4321-80ED-4DB1BDF8830B}"/>
              </a:ext>
            </a:extLst>
          </p:cNvPr>
          <p:cNvSpPr>
            <a:spLocks noGrp="1"/>
          </p:cNvSpPr>
          <p:nvPr/>
        </p:nvSpPr>
        <p:spPr>
          <a:xfrm>
            <a:off x="7391400" y="3505200"/>
            <a:ext cx="2743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descrizione compatibile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C0B48CB-C400-4B1F-AC8E-5E549A3C2EA7}"/>
              </a:ext>
            </a:extLst>
          </p:cNvPr>
          <p:cNvSpPr>
            <a:spLocks noGrp="1"/>
          </p:cNvSpPr>
          <p:nvPr/>
        </p:nvSpPr>
        <p:spPr>
          <a:xfrm>
            <a:off x="7086600" y="4000500"/>
            <a:ext cx="152400" cy="152400"/>
          </a:xfrm>
          <a:prstGeom prst="rect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5C72BF77-0219-472E-83F0-634B70B91B0B}"/>
              </a:ext>
            </a:extLst>
          </p:cNvPr>
          <p:cNvSpPr>
            <a:spLocks noGrp="1"/>
          </p:cNvSpPr>
          <p:nvPr/>
        </p:nvSpPr>
        <p:spPr>
          <a:xfrm>
            <a:off x="7391400" y="3943350"/>
            <a:ext cx="2743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 dirty="0" err="1">
                <a:solidFill>
                  <a:srgbClr val="0F172A"/>
                </a:solidFill>
              </a:rPr>
              <a:t>classe</a:t>
            </a:r>
            <a:r>
              <a:rPr sz="1575" b="0" dirty="0">
                <a:solidFill>
                  <a:srgbClr val="0F172A"/>
                </a:solidFill>
              </a:rPr>
              <a:t> </a:t>
            </a:r>
            <a:r>
              <a:rPr sz="1575" b="0" dirty="0" err="1">
                <a:solidFill>
                  <a:srgbClr val="0F172A"/>
                </a:solidFill>
              </a:rPr>
              <a:t>Wikidata</a:t>
            </a:r>
            <a:r>
              <a:rPr sz="1575" b="0" dirty="0">
                <a:solidFill>
                  <a:srgbClr val="0F172A"/>
                </a:solidFill>
              </a:rPr>
              <a:t> </a:t>
            </a:r>
            <a:r>
              <a:rPr sz="1575" b="0" dirty="0" err="1">
                <a:solidFill>
                  <a:srgbClr val="0F172A"/>
                </a:solidFill>
              </a:rPr>
              <a:t>corretta</a:t>
            </a:r>
            <a:endParaRPr sz="1575" b="0" dirty="0">
              <a:solidFill>
                <a:srgbClr val="0F172A"/>
              </a:solidFill>
            </a:endParaRP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9AA39520-7081-4ED7-9457-1B7B72DF6990}"/>
              </a:ext>
            </a:extLst>
          </p:cNvPr>
          <p:cNvSpPr>
            <a:spLocks noGrp="1"/>
          </p:cNvSpPr>
          <p:nvPr/>
        </p:nvSpPr>
        <p:spPr>
          <a:xfrm>
            <a:off x="7086600" y="4438650"/>
            <a:ext cx="152400" cy="152400"/>
          </a:xfrm>
          <a:prstGeom prst="rect">
            <a:avLst/>
          </a:prstGeom>
          <a:solidFill>
            <a:srgbClr val="22C55E"/>
          </a:solidFill>
          <a:ln w="9525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00474281-79D4-4750-9D6F-FE75581B16F4}"/>
              </a:ext>
            </a:extLst>
          </p:cNvPr>
          <p:cNvSpPr>
            <a:spLocks noGrp="1"/>
          </p:cNvSpPr>
          <p:nvPr/>
        </p:nvSpPr>
        <p:spPr>
          <a:xfrm>
            <a:off x="7391400" y="4381500"/>
            <a:ext cx="27432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riuso solo se il QID e stabile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7B7FCB24-227F-435B-9BB4-601B62D777D0}"/>
              </a:ext>
            </a:extLst>
          </p:cNvPr>
          <p:cNvSpPr>
            <a:spLocks noGrp="1"/>
          </p:cNvSpPr>
          <p:nvPr/>
        </p:nvSpPr>
        <p:spPr>
          <a:xfrm>
            <a:off x="2000250" y="5029200"/>
            <a:ext cx="8191500" cy="83820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8F9EFCC0-D146-43B4-BD8D-903973EF0397}"/>
              </a:ext>
            </a:extLst>
          </p:cNvPr>
          <p:cNvSpPr>
            <a:spLocks noGrp="1"/>
          </p:cNvSpPr>
          <p:nvPr/>
        </p:nvSpPr>
        <p:spPr>
          <a:xfrm>
            <a:off x="2324100" y="5210175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22C55E"/>
                </a:solidFill>
              </a:defRPr>
            </a:pPr>
            <a:r>
              <a:rPr sz="1650" b="1">
                <a:solidFill>
                  <a:srgbClr val="22C55E"/>
                </a:solidFill>
              </a:rPr>
              <a:t>Esempio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E059EE19-FFA5-4ED4-B569-1593BFF4133C}"/>
              </a:ext>
            </a:extLst>
          </p:cNvPr>
          <p:cNvSpPr>
            <a:spLocks noGrp="1"/>
          </p:cNvSpPr>
          <p:nvPr/>
        </p:nvSpPr>
        <p:spPr>
          <a:xfrm>
            <a:off x="3733800" y="52006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475569"/>
                </a:solidFill>
              </a:defRPr>
            </a:pPr>
            <a:r>
              <a:rPr sz="1575" b="0">
                <a:solidFill>
                  <a:srgbClr val="475569"/>
                </a:solidFill>
              </a:rPr>
              <a:t>tragic hero viene accettato come archetipo generale riusabile da Wikidata.</a:t>
            </a:r>
          </a:p>
        </p:txBody>
      </p:sp>
    </p:spTree>
    <p:extLst>
      <p:ext uri="{BB962C8B-B14F-4D97-AF65-F5344CB8AC3E}">
        <p14:creationId xmlns:p14="http://schemas.microsoft.com/office/powerpoint/2010/main" val="14873968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ttangolo 11">
            <a:extLst>
              <a:ext uri="{FF2B5EF4-FFF2-40B4-BE49-F238E27FC236}">
                <a16:creationId xmlns:a16="http://schemas.microsoft.com/office/drawing/2014/main" id="{CAA85C25-12E1-4580-8AA8-968900C80AE6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Archetipo generale e archetipo giapponese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DE8C4C2F-1CBF-4505-9265-42123F9D9D75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Dopo aver verificato gli output degli LLM, il progetto inserisce sia un archetipo generale sia uno specifico del contesto giapponese.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516BDFE5-2DA5-46BB-AC9B-3EC801AB07CC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0CD6BC6D-6AC8-4290-BB6D-EA65086E616E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15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E507148-622B-4626-A66F-E180E863A077}"/>
              </a:ext>
            </a:extLst>
          </p:cNvPr>
          <p:cNvSpPr>
            <a:spLocks noGrp="1"/>
          </p:cNvSpPr>
          <p:nvPr/>
        </p:nvSpPr>
        <p:spPr>
          <a:xfrm>
            <a:off x="819150" y="2190750"/>
            <a:ext cx="4762500" cy="268605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422F16E6-A76E-4FCD-9500-0295C94A0631}"/>
              </a:ext>
            </a:extLst>
          </p:cNvPr>
          <p:cNvSpPr>
            <a:spLocks noGrp="1"/>
          </p:cNvSpPr>
          <p:nvPr/>
        </p:nvSpPr>
        <p:spPr>
          <a:xfrm>
            <a:off x="1181100" y="25146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43F5E"/>
                </a:solidFill>
              </a:defRPr>
            </a:pPr>
            <a:r>
              <a:rPr sz="2100" b="1">
                <a:solidFill>
                  <a:srgbClr val="F43F5E"/>
                </a:solidFill>
              </a:rPr>
              <a:t>Archetipo generale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C918F182-E7B7-4A3F-AB60-4BFD92D2F063}"/>
              </a:ext>
            </a:extLst>
          </p:cNvPr>
          <p:cNvSpPr>
            <a:spLocks noGrp="1"/>
          </p:cNvSpPr>
          <p:nvPr/>
        </p:nvSpPr>
        <p:spPr>
          <a:xfrm>
            <a:off x="1181100" y="3143250"/>
            <a:ext cx="36195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>
                <a:solidFill>
                  <a:srgbClr val="475569"/>
                </a:solidFill>
              </a:rPr>
              <a:t>Categoria narrativa ampia, spesso riusabile da Wikidata: villain, antihero, tragic hero, chosen one.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3C9EE8C3-993B-4CC9-A0B7-24D15D63ADE5}"/>
              </a:ext>
            </a:extLst>
          </p:cNvPr>
          <p:cNvSpPr>
            <a:spLocks noGrp="1"/>
          </p:cNvSpPr>
          <p:nvPr/>
        </p:nvSpPr>
        <p:spPr>
          <a:xfrm>
            <a:off x="6610350" y="2190750"/>
            <a:ext cx="4762500" cy="268605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EAA6DC1-B3CD-4F9D-AA30-5610A3A13D29}"/>
              </a:ext>
            </a:extLst>
          </p:cNvPr>
          <p:cNvSpPr>
            <a:spLocks noGrp="1"/>
          </p:cNvSpPr>
          <p:nvPr/>
        </p:nvSpPr>
        <p:spPr>
          <a:xfrm>
            <a:off x="6972300" y="25146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2C55E"/>
                </a:solidFill>
              </a:defRPr>
            </a:pPr>
            <a:r>
              <a:rPr sz="2100" b="1">
                <a:solidFill>
                  <a:srgbClr val="22C55E"/>
                </a:solidFill>
              </a:rPr>
              <a:t>Archetipo giapponese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D0C8E9B-F037-4A2D-B93D-02F3D174E134}"/>
              </a:ext>
            </a:extLst>
          </p:cNvPr>
          <p:cNvSpPr>
            <a:spLocks noGrp="1"/>
          </p:cNvSpPr>
          <p:nvPr/>
        </p:nvSpPr>
        <p:spPr>
          <a:xfrm>
            <a:off x="6972300" y="3143250"/>
            <a:ext cx="36195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0">
                <a:solidFill>
                  <a:srgbClr val="475569"/>
                </a:solidFill>
              </a:defRPr>
            </a:pPr>
            <a:r>
              <a:rPr sz="1725" b="0">
                <a:solidFill>
                  <a:srgbClr val="475569"/>
                </a:solidFill>
              </a:rPr>
              <a:t>Categoria piu situata nel dominio anime/manga. Se manca in Wikidata, viene creata nel namespace locale del progetto.</a:t>
            </a:r>
          </a:p>
        </p:txBody>
      </p:sp>
      <p:sp>
        <p:nvSpPr>
          <p:cNvPr id="11" name="Connettore dritto 10">
            <a:extLst>
              <a:ext uri="{FF2B5EF4-FFF2-40B4-BE49-F238E27FC236}">
                <a16:creationId xmlns:a16="http://schemas.microsoft.com/office/drawing/2014/main" id="{5C652050-19FE-476F-B44F-CB82C450E939}"/>
              </a:ext>
            </a:extLst>
          </p:cNvPr>
          <p:cNvSpPr>
            <a:spLocks noGrp="1"/>
          </p:cNvSpPr>
          <p:nvPr/>
        </p:nvSpPr>
        <p:spPr>
          <a:xfrm>
            <a:off x="5581650" y="3505200"/>
            <a:ext cx="1028700" cy="0"/>
          </a:xfrm>
          <a:prstGeom prst="line">
            <a:avLst/>
          </a:prstGeom>
          <a:noFill/>
          <a:ln w="2857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2416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60F0FA-A274-400E-03DD-0C3801CB2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2CA2B7AF-3F5A-EAF1-FAF8-486E0F441DB1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Modello RDF proposto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771EC055-0538-6E76-2D74-2BACEC187F59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0">
                <a:solidFill>
                  <a:srgbClr val="475569"/>
                </a:solidFill>
              </a:defRPr>
            </a:pPr>
            <a:r>
              <a:rPr sz="1500" b="0">
                <a:solidFill>
                  <a:srgbClr val="475569"/>
                </a:solidFill>
              </a:rPr>
              <a:t>Il modello distingue il riuso di Wikidata dalla creazione controllata di risorse locali.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4444B725-F8C8-3BCE-65A1-347C2E1BF2C6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93AE5049-AC50-6602-36C6-BC6943C87BFF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16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C793F0B2-D4C9-A926-0C87-02DAC8B9811F}"/>
              </a:ext>
            </a:extLst>
          </p:cNvPr>
          <p:cNvSpPr>
            <a:spLocks noGrp="1"/>
          </p:cNvSpPr>
          <p:nvPr/>
        </p:nvSpPr>
        <p:spPr>
          <a:xfrm>
            <a:off x="876300" y="2000250"/>
            <a:ext cx="4953000" cy="3429000"/>
          </a:xfrm>
          <a:prstGeom prst="rect">
            <a:avLst/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5CC6010-F170-8A22-688D-5175EF0AE9AE}"/>
              </a:ext>
            </a:extLst>
          </p:cNvPr>
          <p:cNvSpPr>
            <a:spLocks noGrp="1"/>
          </p:cNvSpPr>
          <p:nvPr/>
        </p:nvSpPr>
        <p:spPr>
          <a:xfrm>
            <a:off x="1162050" y="2266950"/>
            <a:ext cx="4381500" cy="289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[wd:Personaggio]</a:t>
            </a:r>
          </a:p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  animanga:hasGeneralArchetype</a:t>
            </a:r>
          </a:p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    [wd:QID_Archetipo]</a:t>
            </a:r>
          </a:p>
          <a:p>
            <a:endParaRPr sz="1875" b="0">
              <a:solidFill>
                <a:srgbClr val="FFFFFF"/>
              </a:solidFill>
            </a:endParaRPr>
          </a:p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[wd:Personaggio]</a:t>
            </a:r>
          </a:p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  animanga:hasJapaneseArchetype</a:t>
            </a:r>
          </a:p>
          <a:p>
            <a:pPr algn="l"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</a:rPr>
              <a:t>    [ex:Nuovo_Archetipo]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2CB8196-65AF-F05D-7053-072A8DC85A2F}"/>
              </a:ext>
            </a:extLst>
          </p:cNvPr>
          <p:cNvSpPr>
            <a:spLocks noGrp="1"/>
          </p:cNvSpPr>
          <p:nvPr/>
        </p:nvSpPr>
        <p:spPr>
          <a:xfrm>
            <a:off x="6667500" y="2305050"/>
            <a:ext cx="4095750" cy="2819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CAD3F993-1984-032E-ED94-4BD619DE9BE3}"/>
              </a:ext>
            </a:extLst>
          </p:cNvPr>
          <p:cNvSpPr>
            <a:spLocks noGrp="1"/>
          </p:cNvSpPr>
          <p:nvPr/>
        </p:nvSpPr>
        <p:spPr>
          <a:xfrm>
            <a:off x="7010400" y="26289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0F172A"/>
                </a:solidFill>
              </a:defRPr>
            </a:pPr>
            <a:r>
              <a:rPr sz="2100" b="1">
                <a:solidFill>
                  <a:srgbClr val="0F172A"/>
                </a:solidFill>
              </a:rPr>
              <a:t>Scelta progettuale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D128467D-B8EA-4AF2-329A-A827EC06359B}"/>
              </a:ext>
            </a:extLst>
          </p:cNvPr>
          <p:cNvSpPr>
            <a:spLocks noGrp="1"/>
          </p:cNvSpPr>
          <p:nvPr/>
        </p:nvSpPr>
        <p:spPr>
          <a:xfrm>
            <a:off x="7010400" y="331470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9B244BB-C80C-0A2D-A579-FED2FD9213BD}"/>
              </a:ext>
            </a:extLst>
          </p:cNvPr>
          <p:cNvSpPr>
            <a:spLocks noGrp="1"/>
          </p:cNvSpPr>
          <p:nvPr/>
        </p:nvSpPr>
        <p:spPr>
          <a:xfrm>
            <a:off x="7315200" y="3257550"/>
            <a:ext cx="2838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Wikidata resta la base di identita.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C52BD232-855F-5E7A-7402-40B60CECD464}"/>
              </a:ext>
            </a:extLst>
          </p:cNvPr>
          <p:cNvSpPr>
            <a:spLocks noGrp="1"/>
          </p:cNvSpPr>
          <p:nvPr/>
        </p:nvSpPr>
        <p:spPr>
          <a:xfrm>
            <a:off x="7010400" y="394335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5B0FBE7B-9DC7-8466-BF55-D69B6AF81D54}"/>
              </a:ext>
            </a:extLst>
          </p:cNvPr>
          <p:cNvSpPr>
            <a:spLocks noGrp="1"/>
          </p:cNvSpPr>
          <p:nvPr/>
        </p:nvSpPr>
        <p:spPr>
          <a:xfrm>
            <a:off x="7315200" y="3886200"/>
            <a:ext cx="2838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Il vocabolario animanga: aggiunge relazioni narrative.</a:t>
            </a: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5027F030-AC0E-CBDE-A8AF-0861C3762E67}"/>
              </a:ext>
            </a:extLst>
          </p:cNvPr>
          <p:cNvSpPr>
            <a:spLocks noGrp="1"/>
          </p:cNvSpPr>
          <p:nvPr/>
        </p:nvSpPr>
        <p:spPr>
          <a:xfrm>
            <a:off x="7010400" y="4572000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9C40E4D4-6455-FA72-9F75-07FF6BB93FBD}"/>
              </a:ext>
            </a:extLst>
          </p:cNvPr>
          <p:cNvSpPr>
            <a:spLocks noGrp="1"/>
          </p:cNvSpPr>
          <p:nvPr/>
        </p:nvSpPr>
        <p:spPr>
          <a:xfrm>
            <a:off x="7315200" y="4514850"/>
            <a:ext cx="28384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0F172A"/>
                </a:solidFill>
              </a:defRPr>
            </a:pPr>
            <a:r>
              <a:rPr sz="1575" b="0">
                <a:solidFill>
                  <a:srgbClr val="0F172A"/>
                </a:solidFill>
              </a:rPr>
              <a:t>Le risorse ex: coprono archetipi specifici non presenti.</a:t>
            </a:r>
          </a:p>
        </p:txBody>
      </p:sp>
    </p:spTree>
    <p:extLst>
      <p:ext uri="{BB962C8B-B14F-4D97-AF65-F5344CB8AC3E}">
        <p14:creationId xmlns:p14="http://schemas.microsoft.com/office/powerpoint/2010/main" val="1561553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35A78380-5051-4128-A3AE-30468762A799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rPr lang="it-IT" sz="3000" b="1" dirty="0" err="1"/>
              <a:t>Metamodello</a:t>
            </a:r>
            <a:r>
              <a:rPr lang="it-IT" sz="3000" b="1" dirty="0"/>
              <a:t> e T-Box: </a:t>
            </a:r>
            <a:r>
              <a:rPr lang="it-IT" sz="3000" b="1" dirty="0" err="1"/>
              <a:t>AniManga</a:t>
            </a:r>
            <a:r>
              <a:rPr lang="it-IT" sz="3000" b="1" dirty="0"/>
              <a:t> O-KG</a:t>
            </a:r>
            <a:endParaRPr sz="3000" b="1" dirty="0">
              <a:solidFill>
                <a:srgbClr val="0F172A"/>
              </a:solidFill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EC3927CE-00DB-4113-A6E2-6E3317C89622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03632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475569"/>
                </a:solidFill>
              </a:defRPr>
            </a:pPr>
            <a:r>
              <a:rPr lang="it-IT" sz="1500" dirty="0"/>
              <a:t>Il nostro arricchimento non si limita a produrre triple (A-Box), ma definisce un vero e proprio schema ontologico.</a:t>
            </a:r>
            <a:endParaRPr sz="1500" b="0" dirty="0">
              <a:solidFill>
                <a:srgbClr val="475569"/>
              </a:solidFill>
            </a:endParaRP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A76542FC-4036-485D-ACEA-0D6F589421AD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D980E73C-64D5-4ED8-9402-91AB2A8CE3CB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16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F93F2D54-50D0-4245-BF61-88DA9BA50C12}"/>
              </a:ext>
            </a:extLst>
          </p:cNvPr>
          <p:cNvSpPr>
            <a:spLocks noGrp="1"/>
          </p:cNvSpPr>
          <p:nvPr/>
        </p:nvSpPr>
        <p:spPr>
          <a:xfrm>
            <a:off x="400050" y="1732996"/>
            <a:ext cx="9126244" cy="2819400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F8B931F3-A78F-4409-8394-296BC9418BF5}"/>
              </a:ext>
            </a:extLst>
          </p:cNvPr>
          <p:cNvSpPr>
            <a:spLocks noGrp="1"/>
          </p:cNvSpPr>
          <p:nvPr/>
        </p:nvSpPr>
        <p:spPr>
          <a:xfrm>
            <a:off x="970485" y="2438215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DD06E88-30BE-4677-B812-E0B39FA156C2}"/>
              </a:ext>
            </a:extLst>
          </p:cNvPr>
          <p:cNvSpPr>
            <a:spLocks noGrp="1"/>
          </p:cNvSpPr>
          <p:nvPr/>
        </p:nvSpPr>
        <p:spPr>
          <a:xfrm>
            <a:off x="1307652" y="2354708"/>
            <a:ext cx="793118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b="1" dirty="0"/>
              <a:t>La Classe Core:</a:t>
            </a:r>
            <a:r>
              <a:rPr lang="it-IT" sz="1575" dirty="0"/>
              <a:t> Introduciamo </a:t>
            </a:r>
            <a:r>
              <a:rPr lang="it-IT" sz="1575" dirty="0" err="1"/>
              <a:t>am:Character</a:t>
            </a:r>
            <a:r>
              <a:rPr lang="it-IT" sz="1575" dirty="0"/>
              <a:t> come classe principale.</a:t>
            </a:r>
            <a:endParaRPr sz="1575" b="0" dirty="0">
              <a:solidFill>
                <a:srgbClr val="0F172A"/>
              </a:solidFill>
            </a:endParaRP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CAB31997-D87C-4529-8846-38955F638396}"/>
              </a:ext>
            </a:extLst>
          </p:cNvPr>
          <p:cNvSpPr>
            <a:spLocks noGrp="1"/>
          </p:cNvSpPr>
          <p:nvPr/>
        </p:nvSpPr>
        <p:spPr>
          <a:xfrm>
            <a:off x="970485" y="3004767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E97B53AE-6141-472F-A847-00AE70E10FF1}"/>
              </a:ext>
            </a:extLst>
          </p:cNvPr>
          <p:cNvSpPr>
            <a:spLocks noGrp="1"/>
          </p:cNvSpPr>
          <p:nvPr/>
        </p:nvSpPr>
        <p:spPr>
          <a:xfrm>
            <a:off x="1325730" y="2847605"/>
            <a:ext cx="8200564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b="1" dirty="0"/>
              <a:t>Il Ponte </a:t>
            </a:r>
            <a:r>
              <a:rPr lang="it-IT" sz="1575" b="1" dirty="0" err="1"/>
              <a:t>Wikidata</a:t>
            </a:r>
            <a:r>
              <a:rPr lang="it-IT" sz="1575" b="1" dirty="0"/>
              <a:t>:</a:t>
            </a:r>
            <a:r>
              <a:rPr lang="it-IT" sz="1575" dirty="0"/>
              <a:t> </a:t>
            </a:r>
            <a:r>
              <a:rPr lang="it-IT" sz="1575" dirty="0" err="1"/>
              <a:t>am:Character</a:t>
            </a:r>
            <a:r>
              <a:rPr lang="it-IT" sz="1575" dirty="0"/>
              <a:t> è definita come </a:t>
            </a:r>
            <a:r>
              <a:rPr lang="it-IT" sz="1575" dirty="0" err="1"/>
              <a:t>rdfs:subClassOf</a:t>
            </a:r>
            <a:r>
              <a:rPr lang="it-IT" sz="1575" dirty="0"/>
              <a:t> wd:Q95074 (</a:t>
            </a:r>
            <a:r>
              <a:rPr lang="it-IT" sz="1575" i="1" dirty="0"/>
              <a:t>personaggio immaginario</a:t>
            </a:r>
            <a:r>
              <a:rPr lang="it-IT" sz="1575" dirty="0"/>
              <a:t>). Questo garantisce interoperabilità e retrocompatibilità globale. </a:t>
            </a:r>
            <a:endParaRPr sz="1575" b="0" dirty="0">
              <a:solidFill>
                <a:srgbClr val="0F172A"/>
              </a:solidFill>
            </a:endParaRP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87EEAF7F-D742-48C5-9074-86D6CE80647C}"/>
              </a:ext>
            </a:extLst>
          </p:cNvPr>
          <p:cNvSpPr>
            <a:spLocks noGrp="1"/>
          </p:cNvSpPr>
          <p:nvPr/>
        </p:nvSpPr>
        <p:spPr>
          <a:xfrm>
            <a:off x="970485" y="3633417"/>
            <a:ext cx="152400" cy="152400"/>
          </a:xfrm>
          <a:prstGeom prst="rect">
            <a:avLst/>
          </a:prstGeom>
          <a:solidFill>
            <a:srgbClr val="38BDF8"/>
          </a:solidFill>
          <a:ln w="9525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618E101D-20AC-4066-AF4C-1807AE10B958}"/>
              </a:ext>
            </a:extLst>
          </p:cNvPr>
          <p:cNvSpPr>
            <a:spLocks noGrp="1"/>
          </p:cNvSpPr>
          <p:nvPr/>
        </p:nvSpPr>
        <p:spPr>
          <a:xfrm>
            <a:off x="1325730" y="3566053"/>
            <a:ext cx="7931182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b="1" dirty="0"/>
              <a:t>Estensione:</a:t>
            </a:r>
            <a:r>
              <a:rPr lang="it-IT" sz="1575" dirty="0"/>
              <a:t> Le istanze mantengono il loro QID </a:t>
            </a:r>
            <a:r>
              <a:rPr lang="it-IT" sz="1575" dirty="0" err="1"/>
              <a:t>Wikidata</a:t>
            </a:r>
            <a:r>
              <a:rPr lang="it-IT" sz="1575" dirty="0"/>
              <a:t> originario, ma acquisiscono le nuove proprietà </a:t>
            </a:r>
            <a:r>
              <a:rPr lang="it-IT" sz="1575" dirty="0" err="1"/>
              <a:t>hasGeneralArchetype</a:t>
            </a:r>
            <a:r>
              <a:rPr lang="it-IT" sz="1575" dirty="0"/>
              <a:t> e </a:t>
            </a:r>
            <a:r>
              <a:rPr lang="it-IT" sz="1575" dirty="0" err="1"/>
              <a:t>hasJapaneseArchetype</a:t>
            </a:r>
            <a:r>
              <a:rPr lang="it-IT" sz="1575" dirty="0"/>
              <a:t> definite nella nostra ontologia.</a:t>
            </a:r>
            <a:endParaRPr sz="1575" b="0" dirty="0">
              <a:solidFill>
                <a:srgbClr val="0F17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484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tangolo 10">
            <a:extLst>
              <a:ext uri="{FF2B5EF4-FFF2-40B4-BE49-F238E27FC236}">
                <a16:creationId xmlns:a16="http://schemas.microsoft.com/office/drawing/2014/main" id="{78EEFBDA-9ABB-4E5F-9805-62C3A2014BAE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8001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000" b="1">
                <a:solidFill>
                  <a:srgbClr val="0F172A"/>
                </a:solidFill>
              </a:defRPr>
            </a:pPr>
            <a:r>
              <a:rPr lang="it-IT" sz="3000" b="1" dirty="0"/>
              <a:t>Esempio RDF: </a:t>
            </a:r>
            <a:r>
              <a:rPr lang="it-IT" sz="3000" b="1" dirty="0" err="1"/>
              <a:t>Itachi</a:t>
            </a:r>
            <a:r>
              <a:rPr lang="it-IT" sz="3000" b="1" dirty="0"/>
              <a:t> </a:t>
            </a:r>
            <a:r>
              <a:rPr lang="it-IT" sz="3000" b="1" dirty="0" err="1"/>
              <a:t>Uchiha</a:t>
            </a:r>
            <a:endParaRPr sz="3000" b="1" dirty="0">
              <a:solidFill>
                <a:srgbClr val="0F172A"/>
              </a:solidFill>
            </a:endParaRP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1523823A-5763-4810-A22D-C68840FF7AE6}"/>
              </a:ext>
            </a:extLst>
          </p:cNvPr>
          <p:cNvSpPr>
            <a:spLocks noGrp="1"/>
          </p:cNvSpPr>
          <p:nvPr/>
        </p:nvSpPr>
        <p:spPr>
          <a:xfrm>
            <a:off x="400050" y="1123950"/>
            <a:ext cx="105537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0">
                <a:solidFill>
                  <a:srgbClr val="475569"/>
                </a:solidFill>
              </a:defRPr>
            </a:pPr>
            <a:r>
              <a:rPr lang="it-IT" sz="1500" dirty="0"/>
              <a:t>La tripla finale è il prodotto di un processo controllato: </a:t>
            </a:r>
          </a:p>
          <a:p>
            <a:pPr>
              <a:defRPr sz="1500" b="0">
                <a:solidFill>
                  <a:srgbClr val="475569"/>
                </a:solidFill>
              </a:defRPr>
            </a:pPr>
            <a:endParaRPr lang="it-IT" sz="1500" dirty="0"/>
          </a:p>
          <a:p>
            <a:pPr>
              <a:defRPr sz="1500" b="0">
                <a:solidFill>
                  <a:srgbClr val="475569"/>
                </a:solidFill>
              </a:defRPr>
            </a:pPr>
            <a:r>
              <a:rPr lang="it-IT" sz="1500" dirty="0"/>
              <a:t>	esplorazione SPARQL → ipotesi LLM (CoT) → validazione umana → tipizzazione ontologica.</a:t>
            </a:r>
            <a:endParaRPr sz="1500" b="0" dirty="0">
              <a:solidFill>
                <a:srgbClr val="475569"/>
              </a:solidFill>
            </a:endParaRP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CD898ADA-0AA7-4BDF-A6A9-FE87396A8928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1CF2EB58-6E23-471E-9A4D-28028695F816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17</a:t>
            </a:r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884F45BA-6C56-D8BC-0F3D-CC706A23688D}"/>
              </a:ext>
            </a:extLst>
          </p:cNvPr>
          <p:cNvSpPr>
            <a:spLocks noGrp="1"/>
          </p:cNvSpPr>
          <p:nvPr/>
        </p:nvSpPr>
        <p:spPr>
          <a:xfrm>
            <a:off x="400050" y="2185757"/>
            <a:ext cx="9126244" cy="3872378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D518E31E-7B60-E264-CFFA-06928D925973}"/>
              </a:ext>
            </a:extLst>
          </p:cNvPr>
          <p:cNvSpPr>
            <a:spLocks noGrp="1"/>
          </p:cNvSpPr>
          <p:nvPr/>
        </p:nvSpPr>
        <p:spPr>
          <a:xfrm>
            <a:off x="970485" y="2890976"/>
            <a:ext cx="152400" cy="152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6D0CA989-8847-F864-21DF-81F28924332F}"/>
              </a:ext>
            </a:extLst>
          </p:cNvPr>
          <p:cNvSpPr>
            <a:spLocks noGrp="1"/>
          </p:cNvSpPr>
          <p:nvPr/>
        </p:nvSpPr>
        <p:spPr>
          <a:xfrm>
            <a:off x="1307652" y="2811652"/>
            <a:ext cx="793118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b="1" dirty="0" err="1"/>
              <a:t>Itachi</a:t>
            </a:r>
            <a:r>
              <a:rPr lang="it-IT" sz="1575" b="1" dirty="0"/>
              <a:t> </a:t>
            </a:r>
            <a:r>
              <a:rPr lang="it-IT" sz="1575" b="1" dirty="0" err="1"/>
              <a:t>Uchiha</a:t>
            </a:r>
            <a:r>
              <a:rPr lang="it-IT" sz="1575" b="1" dirty="0"/>
              <a:t> (wd:Q1043344)</a:t>
            </a:r>
            <a:r>
              <a:rPr lang="it-IT" sz="1575" dirty="0"/>
              <a:t> viene tipizzato come </a:t>
            </a:r>
            <a:r>
              <a:rPr lang="it-IT" sz="1575" dirty="0" err="1"/>
              <a:t>rdf:type</a:t>
            </a:r>
            <a:r>
              <a:rPr lang="it-IT" sz="1575" dirty="0"/>
              <a:t> </a:t>
            </a:r>
            <a:r>
              <a:rPr lang="it-IT" sz="1575" dirty="0" err="1"/>
              <a:t>am:Character</a:t>
            </a:r>
            <a:r>
              <a:rPr lang="it-IT" sz="1575" dirty="0"/>
              <a:t>.</a:t>
            </a:r>
            <a:endParaRPr sz="1575" b="0" dirty="0">
              <a:solidFill>
                <a:srgbClr val="0F172A"/>
              </a:solidFill>
            </a:endParaRP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1419F413-B36A-D814-A117-F45620D417DE}"/>
              </a:ext>
            </a:extLst>
          </p:cNvPr>
          <p:cNvSpPr>
            <a:spLocks noGrp="1"/>
          </p:cNvSpPr>
          <p:nvPr/>
        </p:nvSpPr>
        <p:spPr>
          <a:xfrm>
            <a:off x="970485" y="3457528"/>
            <a:ext cx="152400" cy="152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76DE9F-81B9-2FC9-B8B5-6F8815D0D07D}"/>
              </a:ext>
            </a:extLst>
          </p:cNvPr>
          <p:cNvSpPr>
            <a:spLocks noGrp="1"/>
          </p:cNvSpPr>
          <p:nvPr/>
        </p:nvSpPr>
        <p:spPr>
          <a:xfrm>
            <a:off x="1307652" y="3425377"/>
            <a:ext cx="8200564" cy="35330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dirty="0"/>
              <a:t>L'archetipo generale riusa </a:t>
            </a:r>
            <a:r>
              <a:rPr lang="it-IT" sz="1575" dirty="0" err="1"/>
              <a:t>Wikidata</a:t>
            </a:r>
            <a:r>
              <a:rPr lang="it-IT" sz="1575" dirty="0"/>
              <a:t>: wd:Q1969230 (</a:t>
            </a:r>
            <a:r>
              <a:rPr lang="it-IT" sz="1575" i="1" dirty="0" err="1"/>
              <a:t>tragic</a:t>
            </a:r>
            <a:r>
              <a:rPr lang="it-IT" sz="1575" i="1" dirty="0"/>
              <a:t> </a:t>
            </a:r>
            <a:r>
              <a:rPr lang="it-IT" sz="1575" i="1" dirty="0" err="1"/>
              <a:t>hero</a:t>
            </a:r>
            <a:r>
              <a:rPr lang="it-IT" sz="1575" dirty="0"/>
              <a:t>). </a:t>
            </a:r>
            <a:endParaRPr sz="1575" b="0" dirty="0">
              <a:solidFill>
                <a:srgbClr val="0F172A"/>
              </a:solidFill>
            </a:endParaRP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6E1BD019-29CE-EA39-64ED-3D92632E5DB5}"/>
              </a:ext>
            </a:extLst>
          </p:cNvPr>
          <p:cNvSpPr>
            <a:spLocks noGrp="1"/>
          </p:cNvSpPr>
          <p:nvPr/>
        </p:nvSpPr>
        <p:spPr>
          <a:xfrm>
            <a:off x="970485" y="4086178"/>
            <a:ext cx="152400" cy="152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A7B747AD-65BD-00F0-57C7-CC87245C791A}"/>
              </a:ext>
            </a:extLst>
          </p:cNvPr>
          <p:cNvSpPr>
            <a:spLocks noGrp="1"/>
          </p:cNvSpPr>
          <p:nvPr/>
        </p:nvSpPr>
        <p:spPr>
          <a:xfrm>
            <a:off x="1307652" y="4018813"/>
            <a:ext cx="7931182" cy="430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dirty="0"/>
              <a:t>L'archetipo giapponese diventa una nuova risorsa locale normalizzata: </a:t>
            </a:r>
            <a:r>
              <a:rPr lang="it-IT" sz="1575" dirty="0" err="1"/>
              <a:t>ex:sacrificial-shinobi</a:t>
            </a:r>
            <a:r>
              <a:rPr lang="it-IT" sz="1575" dirty="0"/>
              <a:t>.</a:t>
            </a:r>
            <a:endParaRPr sz="1575" b="0" dirty="0">
              <a:solidFill>
                <a:srgbClr val="0F172A"/>
              </a:solidFill>
            </a:endParaRP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536C57E5-2DC7-D381-59D8-AB3E7655DAAF}"/>
              </a:ext>
            </a:extLst>
          </p:cNvPr>
          <p:cNvSpPr>
            <a:spLocks noGrp="1"/>
          </p:cNvSpPr>
          <p:nvPr/>
        </p:nvSpPr>
        <p:spPr>
          <a:xfrm>
            <a:off x="970485" y="4675118"/>
            <a:ext cx="152400" cy="152400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B1C879E-7CAF-64E6-BB24-60E1D6D09DC7}"/>
              </a:ext>
            </a:extLst>
          </p:cNvPr>
          <p:cNvSpPr>
            <a:spLocks noGrp="1"/>
          </p:cNvSpPr>
          <p:nvPr/>
        </p:nvSpPr>
        <p:spPr>
          <a:xfrm>
            <a:off x="1307652" y="4607753"/>
            <a:ext cx="7931182" cy="4307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0F172A"/>
                </a:solidFill>
              </a:defRPr>
            </a:pPr>
            <a:r>
              <a:rPr lang="it-IT" sz="1575" dirty="0"/>
              <a:t>Gli LLM non scrivono il grafo: sono abilitatori per il data </a:t>
            </a:r>
            <a:r>
              <a:rPr lang="it-IT" sz="1575" dirty="0" err="1"/>
              <a:t>modeling</a:t>
            </a:r>
            <a:r>
              <a:rPr lang="it-IT" sz="1575" dirty="0"/>
              <a:t> umano.</a:t>
            </a:r>
            <a:endParaRPr sz="1575" b="0" dirty="0">
              <a:solidFill>
                <a:srgbClr val="0F172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84345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tangolo 15">
            <a:extLst>
              <a:ext uri="{FF2B5EF4-FFF2-40B4-BE49-F238E27FC236}">
                <a16:creationId xmlns:a16="http://schemas.microsoft.com/office/drawing/2014/main" id="{E5AC53CA-A42A-4C57-B30E-D55F17AE2365}"/>
              </a:ext>
            </a:extLst>
          </p:cNvPr>
          <p:cNvSpPr>
            <a:spLocks noGrp="1"/>
          </p:cNvSpPr>
          <p:nvPr/>
        </p:nvSpPr>
        <p:spPr>
          <a:xfrm>
            <a:off x="400050" y="361950"/>
            <a:ext cx="6858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225" b="1">
                <a:solidFill>
                  <a:srgbClr val="0F172A"/>
                </a:solidFill>
              </a:defRPr>
            </a:pPr>
            <a:r>
              <a:rPr sz="3225" b="1">
                <a:solidFill>
                  <a:srgbClr val="0F172A"/>
                </a:solidFill>
              </a:rPr>
              <a:t>Conclusione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54172AA5-8448-423D-A0ED-10652D1A58EE}"/>
              </a:ext>
            </a:extLst>
          </p:cNvPr>
          <p:cNvSpPr>
            <a:spLocks noGrp="1"/>
          </p:cNvSpPr>
          <p:nvPr/>
        </p:nvSpPr>
        <p:spPr>
          <a:xfrm>
            <a:off x="400050" y="1238250"/>
            <a:ext cx="977376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75" b="0">
                <a:solidFill>
                  <a:srgbClr val="475569"/>
                </a:solidFill>
              </a:defRPr>
            </a:pPr>
            <a:r>
              <a:rPr lang="it-IT" sz="1575" dirty="0" err="1"/>
              <a:t>AniManga</a:t>
            </a:r>
            <a:r>
              <a:rPr lang="it-IT" sz="1575" dirty="0"/>
              <a:t> O-KG dimostra come colmare </a:t>
            </a:r>
            <a:r>
              <a:rPr lang="it-IT" sz="1575" i="1" dirty="0"/>
              <a:t>data gap</a:t>
            </a:r>
            <a:r>
              <a:rPr lang="it-IT" sz="1575" dirty="0"/>
              <a:t> strutturali senza delegare acriticamente all'AI generativa.</a:t>
            </a:r>
            <a:endParaRPr sz="1575" b="0" dirty="0">
              <a:solidFill>
                <a:srgbClr val="475569"/>
              </a:solidFill>
            </a:endParaRP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394D5BE-4DED-487A-8E59-A168D8685088}"/>
              </a:ext>
            </a:extLst>
          </p:cNvPr>
          <p:cNvSpPr>
            <a:spLocks noGrp="1"/>
          </p:cNvSpPr>
          <p:nvPr/>
        </p:nvSpPr>
        <p:spPr>
          <a:xfrm>
            <a:off x="400050" y="6286500"/>
            <a:ext cx="266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475569"/>
                </a:solidFill>
              </a:defRPr>
            </a:pPr>
            <a:r>
              <a:rPr sz="1125" b="1">
                <a:solidFill>
                  <a:srgbClr val="475569"/>
                </a:solidFill>
              </a:rPr>
              <a:t>AniManga O-KG</a:t>
            </a:r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A52FEEF-D4E4-4785-AFA4-D1E3F677E00A}"/>
              </a:ext>
            </a:extLst>
          </p:cNvPr>
          <p:cNvSpPr>
            <a:spLocks noGrp="1"/>
          </p:cNvSpPr>
          <p:nvPr/>
        </p:nvSpPr>
        <p:spPr>
          <a:xfrm>
            <a:off x="11277600" y="6286500"/>
            <a:ext cx="5143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125" b="0">
                <a:solidFill>
                  <a:srgbClr val="475569"/>
                </a:solidFill>
              </a:defRPr>
            </a:pPr>
            <a:r>
              <a:rPr sz="1125" b="0">
                <a:solidFill>
                  <a:srgbClr val="475569"/>
                </a:solidFill>
              </a:rPr>
              <a:t>10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983C284F-9595-4927-AF71-6629E96C8A38}"/>
              </a:ext>
            </a:extLst>
          </p:cNvPr>
          <p:cNvSpPr>
            <a:spLocks noGrp="1"/>
          </p:cNvSpPr>
          <p:nvPr/>
        </p:nvSpPr>
        <p:spPr>
          <a:xfrm>
            <a:off x="1123950" y="2143125"/>
            <a:ext cx="171450" cy="17145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35D717E7-118B-48B0-9483-96A3C336C257}"/>
              </a:ext>
            </a:extLst>
          </p:cNvPr>
          <p:cNvSpPr>
            <a:spLocks noGrp="1"/>
          </p:cNvSpPr>
          <p:nvPr/>
        </p:nvSpPr>
        <p:spPr>
          <a:xfrm>
            <a:off x="1447800" y="2095500"/>
            <a:ext cx="9010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0F172A"/>
                </a:solidFill>
              </a:defRPr>
            </a:pPr>
            <a:r>
              <a:rPr lang="it-IT" b="1" dirty="0"/>
              <a:t>SPARQL</a:t>
            </a:r>
            <a:r>
              <a:rPr lang="it-IT" dirty="0"/>
              <a:t> è lo strumento diagnostico per mappare il vuoto e la frammentazione.</a:t>
            </a:r>
            <a:endParaRPr sz="1800" b="0" dirty="0">
              <a:solidFill>
                <a:srgbClr val="0F172A"/>
              </a:solidFill>
            </a:endParaRP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78C8D3BF-0B0A-4C0F-97E5-454EA260448A}"/>
              </a:ext>
            </a:extLst>
          </p:cNvPr>
          <p:cNvSpPr>
            <a:spLocks noGrp="1"/>
          </p:cNvSpPr>
          <p:nvPr/>
        </p:nvSpPr>
        <p:spPr>
          <a:xfrm>
            <a:off x="1123950" y="2695575"/>
            <a:ext cx="171450" cy="17145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00BA77F4-E288-4DC5-A3AD-0B46E3C8C26C}"/>
              </a:ext>
            </a:extLst>
          </p:cNvPr>
          <p:cNvSpPr>
            <a:spLocks noGrp="1"/>
          </p:cNvSpPr>
          <p:nvPr/>
        </p:nvSpPr>
        <p:spPr>
          <a:xfrm>
            <a:off x="1447800" y="2647950"/>
            <a:ext cx="90106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0F172A"/>
                </a:solidFill>
              </a:defRPr>
            </a:pPr>
            <a:r>
              <a:rPr lang="it-IT" b="1" dirty="0"/>
              <a:t>LLM (CoT)</a:t>
            </a:r>
            <a:r>
              <a:rPr lang="it-IT" dirty="0"/>
              <a:t> forniscono ipotesi sociologiche ad alto valore interpretativo.</a:t>
            </a:r>
            <a:endParaRPr sz="1800" b="0" dirty="0">
              <a:solidFill>
                <a:srgbClr val="0F172A"/>
              </a:solidFill>
            </a:endParaRP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EA04F81B-F2D4-47E3-B3D3-C7442E3A6D71}"/>
              </a:ext>
            </a:extLst>
          </p:cNvPr>
          <p:cNvSpPr>
            <a:spLocks noGrp="1"/>
          </p:cNvSpPr>
          <p:nvPr/>
        </p:nvSpPr>
        <p:spPr>
          <a:xfrm>
            <a:off x="1123950" y="3248025"/>
            <a:ext cx="171450" cy="17145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35E067E3-A279-4A0D-B2AF-6B317B477635}"/>
              </a:ext>
            </a:extLst>
          </p:cNvPr>
          <p:cNvSpPr>
            <a:spLocks noGrp="1"/>
          </p:cNvSpPr>
          <p:nvPr/>
        </p:nvSpPr>
        <p:spPr>
          <a:xfrm>
            <a:off x="1447799" y="3200400"/>
            <a:ext cx="1015531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0F172A"/>
                </a:solidFill>
              </a:defRPr>
            </a:pPr>
            <a:r>
              <a:rPr lang="it-IT" b="1"/>
              <a:t>L'umano nel ciclo (</a:t>
            </a:r>
            <a:r>
              <a:rPr lang="it-IT" b="1" i="1"/>
              <a:t>Human-in-the-loop</a:t>
            </a:r>
            <a:r>
              <a:rPr lang="it-IT" b="1"/>
              <a:t>)</a:t>
            </a:r>
            <a:r>
              <a:rPr lang="it-IT"/>
              <a:t> normalizza il testo testato e sceglie la strategia di riuso o creazione.</a:t>
            </a:r>
            <a:endParaRPr sz="1800" b="0" dirty="0">
              <a:solidFill>
                <a:srgbClr val="0F172A"/>
              </a:solidFill>
            </a:endParaRP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9727DEBB-251F-41EF-8240-088C2AEB4C47}"/>
              </a:ext>
            </a:extLst>
          </p:cNvPr>
          <p:cNvSpPr>
            <a:spLocks noGrp="1"/>
          </p:cNvSpPr>
          <p:nvPr/>
        </p:nvSpPr>
        <p:spPr>
          <a:xfrm>
            <a:off x="1123950" y="3800475"/>
            <a:ext cx="171450" cy="171450"/>
          </a:xfrm>
          <a:prstGeom prst="rect">
            <a:avLst/>
          </a:prstGeom>
          <a:solidFill>
            <a:srgbClr val="F43F5E"/>
          </a:solidFill>
          <a:ln w="9525">
            <a:solidFill>
              <a:srgbClr val="F43F5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909CD2AD-5E02-44BD-A68F-1B474D474FFF}"/>
              </a:ext>
            </a:extLst>
          </p:cNvPr>
          <p:cNvSpPr>
            <a:spLocks noGrp="1"/>
          </p:cNvSpPr>
          <p:nvPr/>
        </p:nvSpPr>
        <p:spPr>
          <a:xfrm>
            <a:off x="1447800" y="3752850"/>
            <a:ext cx="9010650" cy="71261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 b="0">
                <a:solidFill>
                  <a:srgbClr val="0F172A"/>
                </a:solidFill>
              </a:defRPr>
            </a:pPr>
            <a:r>
              <a:rPr lang="it-IT" b="1" dirty="0"/>
              <a:t>La modellazione RDF (T-Box/A-Box)</a:t>
            </a:r>
            <a:r>
              <a:rPr lang="it-IT" dirty="0"/>
              <a:t> trasforma infine l'ipotesi validata in un dato semantico formalmente robusto e interoperabile con il Web globale.</a:t>
            </a:r>
            <a:endParaRPr sz="1800" b="0" dirty="0">
              <a:solidFill>
                <a:srgbClr val="0F172A"/>
              </a:solidFill>
            </a:endParaRPr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64CD5891-13AE-40EC-95F6-B9576D6D34C9}"/>
              </a:ext>
            </a:extLst>
          </p:cNvPr>
          <p:cNvSpPr>
            <a:spLocks noGrp="1"/>
          </p:cNvSpPr>
          <p:nvPr/>
        </p:nvSpPr>
        <p:spPr>
          <a:xfrm>
            <a:off x="1123950" y="4819650"/>
            <a:ext cx="9334500" cy="914400"/>
          </a:xfrm>
          <a:prstGeom prst="rect">
            <a:avLst/>
          </a:prstGeom>
          <a:solidFill>
            <a:srgbClr val="ECFDF5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CAD763AD-19B1-4E49-976D-B78CBD230B78}"/>
              </a:ext>
            </a:extLst>
          </p:cNvPr>
          <p:cNvSpPr>
            <a:spLocks noGrp="1"/>
          </p:cNvSpPr>
          <p:nvPr/>
        </p:nvSpPr>
        <p:spPr>
          <a:xfrm>
            <a:off x="1466850" y="50482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2C55E"/>
                </a:solidFill>
              </a:defRPr>
            </a:pPr>
            <a:r>
              <a:rPr sz="1800" b="1">
                <a:solidFill>
                  <a:srgbClr val="22C55E"/>
                </a:solidFill>
              </a:rPr>
              <a:t>Risultato</a:t>
            </a:r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1C3D7878-39E8-4D65-828E-EA6ECE97AD1C}"/>
              </a:ext>
            </a:extLst>
          </p:cNvPr>
          <p:cNvSpPr>
            <a:spLocks noGrp="1"/>
          </p:cNvSpPr>
          <p:nvPr/>
        </p:nvSpPr>
        <p:spPr>
          <a:xfrm>
            <a:off x="3143250" y="5010150"/>
            <a:ext cx="6667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475569"/>
                </a:solidFill>
              </a:defRPr>
            </a:pPr>
            <a:r>
              <a:rPr sz="1650" b="0" dirty="0">
                <a:solidFill>
                  <a:srgbClr val="475569"/>
                </a:solidFill>
              </a:rPr>
              <a:t>Il </a:t>
            </a:r>
            <a:r>
              <a:rPr lang="it-IT" sz="1650" b="0" dirty="0" err="1">
                <a:solidFill>
                  <a:srgbClr val="475569"/>
                </a:solidFill>
              </a:rPr>
              <a:t>progetto</a:t>
            </a:r>
            <a:r>
              <a:rPr sz="1650" b="0" dirty="0">
                <a:solidFill>
                  <a:srgbClr val="475569"/>
                </a:solidFill>
              </a:rPr>
              <a:t> </a:t>
            </a:r>
            <a:r>
              <a:rPr lang="it-IT" sz="1650" b="0" dirty="0" err="1">
                <a:solidFill>
                  <a:srgbClr val="475569"/>
                </a:solidFill>
              </a:rPr>
              <a:t>trasforma</a:t>
            </a:r>
            <a:r>
              <a:rPr sz="1650" b="0" dirty="0">
                <a:solidFill>
                  <a:srgbClr val="475569"/>
                </a:solidFill>
              </a:rPr>
              <a:t> un </a:t>
            </a:r>
            <a:r>
              <a:rPr lang="it-IT" sz="1650" b="0" dirty="0" err="1">
                <a:solidFill>
                  <a:srgbClr val="475569"/>
                </a:solidFill>
              </a:rPr>
              <a:t>vuoto</a:t>
            </a:r>
            <a:r>
              <a:rPr sz="1650" b="0" dirty="0">
                <a:solidFill>
                  <a:srgbClr val="475569"/>
                </a:solidFill>
              </a:rPr>
              <a:t> </a:t>
            </a:r>
            <a:r>
              <a:rPr lang="it-IT" sz="1650" b="0" dirty="0" err="1">
                <a:solidFill>
                  <a:srgbClr val="475569"/>
                </a:solidFill>
              </a:rPr>
              <a:t>descrittivo</a:t>
            </a:r>
            <a:r>
              <a:rPr sz="1650" b="0" dirty="0">
                <a:solidFill>
                  <a:srgbClr val="475569"/>
                </a:solidFill>
              </a:rPr>
              <a:t> </a:t>
            </a:r>
            <a:r>
              <a:rPr lang="it-IT" sz="1650" b="0" dirty="0" err="1">
                <a:solidFill>
                  <a:srgbClr val="475569"/>
                </a:solidFill>
              </a:rPr>
              <a:t>sugli</a:t>
            </a:r>
            <a:r>
              <a:rPr sz="1650" b="0" dirty="0">
                <a:solidFill>
                  <a:srgbClr val="475569"/>
                </a:solidFill>
              </a:rPr>
              <a:t> </a:t>
            </a:r>
            <a:r>
              <a:rPr lang="it-IT" sz="1650" b="0" dirty="0" err="1">
                <a:solidFill>
                  <a:srgbClr val="475569"/>
                </a:solidFill>
              </a:rPr>
              <a:t>archetipi</a:t>
            </a:r>
            <a:r>
              <a:rPr sz="1650" b="0" dirty="0">
                <a:solidFill>
                  <a:srgbClr val="475569"/>
                </a:solidFill>
              </a:rPr>
              <a:t> in un </a:t>
            </a:r>
            <a:r>
              <a:rPr lang="it-IT" sz="1650" b="0" dirty="0" err="1">
                <a:solidFill>
                  <a:srgbClr val="475569"/>
                </a:solidFill>
              </a:rPr>
              <a:t>processo</a:t>
            </a:r>
            <a:r>
              <a:rPr sz="1650" b="0" dirty="0">
                <a:solidFill>
                  <a:srgbClr val="475569"/>
                </a:solidFill>
              </a:rPr>
              <a:t> </a:t>
            </a:r>
            <a:r>
              <a:rPr lang="it-IT" sz="1650" b="0" dirty="0" err="1">
                <a:solidFill>
                  <a:srgbClr val="475569"/>
                </a:solidFill>
              </a:rPr>
              <a:t>ripetibile</a:t>
            </a:r>
            <a:r>
              <a:rPr sz="1650" b="0" dirty="0">
                <a:solidFill>
                  <a:srgbClr val="475569"/>
                </a:solidFill>
              </a:rPr>
              <a:t> di </a:t>
            </a:r>
            <a:r>
              <a:rPr lang="it-IT" sz="1650" b="0" dirty="0" err="1">
                <a:solidFill>
                  <a:srgbClr val="475569"/>
                </a:solidFill>
              </a:rPr>
              <a:t>proposta</a:t>
            </a:r>
            <a:r>
              <a:rPr sz="1650" b="0" dirty="0">
                <a:solidFill>
                  <a:srgbClr val="475569"/>
                </a:solidFill>
              </a:rPr>
              <a:t>, </a:t>
            </a:r>
            <a:r>
              <a:rPr lang="it-IT" sz="1650" b="0" dirty="0" err="1">
                <a:solidFill>
                  <a:srgbClr val="475569"/>
                </a:solidFill>
              </a:rPr>
              <a:t>controllo</a:t>
            </a:r>
            <a:r>
              <a:rPr sz="1650" b="0" dirty="0">
                <a:solidFill>
                  <a:srgbClr val="475569"/>
                </a:solidFill>
              </a:rPr>
              <a:t> e </a:t>
            </a:r>
            <a:r>
              <a:rPr lang="it-IT" sz="1650" b="0" dirty="0" err="1">
                <a:solidFill>
                  <a:srgbClr val="475569"/>
                </a:solidFill>
              </a:rPr>
              <a:t>pubblicazione</a:t>
            </a:r>
            <a:r>
              <a:rPr sz="1650" b="0" dirty="0">
                <a:solidFill>
                  <a:srgbClr val="475569"/>
                </a:solidFill>
              </a:rPr>
              <a:t> RDF.</a:t>
            </a:r>
          </a:p>
        </p:txBody>
      </p:sp>
    </p:spTree>
    <p:extLst>
      <p:ext uri="{BB962C8B-B14F-4D97-AF65-F5344CB8AC3E}">
        <p14:creationId xmlns:p14="http://schemas.microsoft.com/office/powerpoint/2010/main" val="431909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1493</Words>
  <Application>Microsoft Office PowerPoint</Application>
  <DocSecurity>0</DocSecurity>
  <PresentationFormat>Widescreen</PresentationFormat>
  <Paragraphs>213</Paragraphs>
  <Slides>19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1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1" baseType="lpstr">
      <vt:lpstr>Calibri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Albieri Sara</cp:lastModifiedBy>
  <cp:revision>3</cp:revision>
  <dcterms:created xsi:type="dcterms:W3CDTF">2026-06-30T20:14:38Z</dcterms:created>
  <dcterms:modified xsi:type="dcterms:W3CDTF">2026-07-01T09:18:34Z</dcterms:modified>
</cp:coreProperties>
</file>