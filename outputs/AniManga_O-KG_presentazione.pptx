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19"/>
    <p:restoredTop sz="94717"/>
  </p:normalViewPr>
  <p:slideViewPr>
    <p:cSldViewPr snapToGrid="0">
      <p:cViewPr varScale="1">
        <p:scale>
          <a:sx n="69" d="100"/>
          <a:sy n="69" d="100"/>
        </p:scale>
        <p:origin x="216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it-IT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Personaggi univoci</c:v>
          </c:tx>
          <c:spPr>
            <a:solidFill>
              <a:srgbClr val="F43F5E"/>
            </a:solidFill>
          </c:spPr>
          <c:invertIfNegative val="1"/>
          <c:dLbls>
            <c:delete val="1"/>
          </c:dLbls>
          <c:cat>
            <c:strLit>
              <c:ptCount val="2"/>
              <c:pt idx="0">
                <c:v>Con character type</c:v>
              </c:pt>
              <c:pt idx="1">
                <c:v>Senza character type</c:v>
              </c:pt>
            </c:strLit>
          </c:cat>
          <c:val>
            <c:numLit>
              <c:formatCode>General</c:formatCode>
              <c:ptCount val="2"/>
              <c:pt idx="0">
                <c:v>7</c:v>
              </c:pt>
              <c:pt idx="1">
                <c:v>1107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D0-C246-85C2-0DAF531C1B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F172A"/>
                </a:solidFill>
              </a:defRPr>
            </a:pPr>
            <a:endParaRPr lang="it-IT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200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it-IT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/>
          <p:cNvPicPr>
            <a:picLocks noChangeAspect="1"/>
          </p:cNvPicPr>
          <p:nvPr/>
        </p:nvPicPr>
        <p:blipFill>
          <a:blip r:embed="rId3"/>
          <a:srcRect l="38477" r="38477"/>
          <a:stretch>
            <a:fillRect/>
          </a:stretch>
        </p:blipFill>
        <p:spPr>
          <a:xfrm>
            <a:off x="6572250" y="0"/>
            <a:ext cx="2809875" cy="6858000"/>
          </a:xfrm>
          <a:prstGeom prst="rect">
            <a:avLst/>
          </a:prstGeom>
        </p:spPr>
      </p:pic>
      <p:pic>
        <p:nvPicPr>
          <p:cNvPr id="15" name="Immagine 14"/>
          <p:cNvPicPr>
            <a:picLocks noChangeAspect="1"/>
          </p:cNvPicPr>
          <p:nvPr/>
        </p:nvPicPr>
        <p:blipFill>
          <a:blip r:embed="rId4"/>
          <a:srcRect l="38487" r="38487"/>
          <a:stretch>
            <a:fillRect/>
          </a:stretch>
        </p:blipFill>
        <p:spPr>
          <a:xfrm>
            <a:off x="9382125" y="0"/>
            <a:ext cx="2809875" cy="6858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5A30E8A3-0978-4300-8233-F54EAF6BBC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57225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92C019D-CED4-45B7-9FDD-B2F2FF96BCD8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552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AniManga O-KG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6190888-E6F0-4DDA-8226-787DC35EF66F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495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Mappatura degli archetipi narrativi nei media giapponesi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01D3AF5-6C02-4024-A163-7B04CD02C283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5619750" cy="11049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0887139-06EC-4AA1-A3D2-941AEE1344AC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3F5E"/>
                </a:solidFill>
              </a:defRPr>
            </a:pPr>
            <a:r>
              <a:rPr sz="1500" b="1">
                <a:solidFill>
                  <a:srgbClr val="F43F5E"/>
                </a:solidFill>
              </a:rPr>
              <a:t>Index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9BB789E-3081-4048-8F7F-A2BAE3386471}"/>
              </a:ext>
            </a:extLst>
          </p:cNvPr>
          <p:cNvSpPr>
            <a:spLocks noGrp="1"/>
          </p:cNvSpPr>
          <p:nvPr/>
        </p:nvSpPr>
        <p:spPr>
          <a:xfrm>
            <a:off x="200025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https://saraalbieri.github.io/AniManga/index.html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3642712-36CF-48B1-AB25-FC46AF746E33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3F5E"/>
                </a:solidFill>
              </a:defRPr>
            </a:pPr>
            <a:r>
              <a:rPr sz="1500" b="1">
                <a:solidFill>
                  <a:srgbClr val="F43F5E"/>
                </a:solidFill>
              </a:rPr>
              <a:t>Repository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A9AD45C-A868-4C40-A9A4-5CBCB030548E}"/>
              </a:ext>
            </a:extLst>
          </p:cNvPr>
          <p:cNvSpPr>
            <a:spLocks noGrp="1"/>
          </p:cNvSpPr>
          <p:nvPr/>
        </p:nvSpPr>
        <p:spPr>
          <a:xfrm>
            <a:off x="2000250" y="3333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https://github.com/saraalbieri/AniManga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99E947C-97D9-4945-B420-78FF177759CE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43F5E"/>
                </a:solidFill>
              </a:defRPr>
            </a:pPr>
            <a:r>
              <a:rPr sz="1800" b="1">
                <a:solidFill>
                  <a:srgbClr val="F43F5E"/>
                </a:solidFill>
              </a:rPr>
              <a:t>Knowledge Graph + SPARQL + LLM + RDF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DB5A3F1-A7DD-4066-8089-3FA1FDB3B127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Progetto GEPID, Università di Bologna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45D116B-000C-4617-8EDD-30DF45D79FF3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624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5AE6E749-CA4C-43C8-BEED-D6C19A77A5A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Il problema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0E90C9E-5910-4788-89D5-ED959CC3FB41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Per molti personaggi non è presente un archetipo narrativo strutturato: le entità esistono, ma il ruolo resta implicito.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ADB1F03-303C-4EA7-9722-1361DB60064D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1A4D47F-B975-451D-822A-5CE22E213BE3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E3B890C-1022-4CA8-8848-201F17606C34}"/>
              </a:ext>
            </a:extLst>
          </p:cNvPr>
          <p:cNvSpPr>
            <a:spLocks noGrp="1"/>
          </p:cNvSpPr>
          <p:nvPr/>
        </p:nvSpPr>
        <p:spPr>
          <a:xfrm>
            <a:off x="400050" y="2266950"/>
            <a:ext cx="257175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87FD6B3-3A4B-4576-AB23-31FB57A8A4B3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43F5E"/>
                </a:solidFill>
              </a:defRPr>
            </a:pPr>
            <a:r>
              <a:rPr sz="3600" b="1">
                <a:solidFill>
                  <a:srgbClr val="F43F5E"/>
                </a:solidFill>
              </a:rPr>
              <a:t>Entità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A93B8A6-5FF4-4213-8453-D7C0732EC303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2152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personaggi e opere hanno QID e descrizioni Wikidata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6361446-7564-4C10-A7B4-E1B9DD790A81}"/>
              </a:ext>
            </a:extLst>
          </p:cNvPr>
          <p:cNvSpPr>
            <a:spLocks noGrp="1"/>
          </p:cNvSpPr>
          <p:nvPr/>
        </p:nvSpPr>
        <p:spPr>
          <a:xfrm>
            <a:off x="3352800" y="2266950"/>
            <a:ext cx="257175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4A49A65-18B8-4C50-8696-5617647EFBAC}"/>
              </a:ext>
            </a:extLst>
          </p:cNvPr>
          <p:cNvSpPr>
            <a:spLocks noGrp="1"/>
          </p:cNvSpPr>
          <p:nvPr/>
        </p:nvSpPr>
        <p:spPr>
          <a:xfrm>
            <a:off x="3562350" y="247650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Proprietà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667458D-4F5A-412A-87A5-B991F9197143}"/>
              </a:ext>
            </a:extLst>
          </p:cNvPr>
          <p:cNvSpPr>
            <a:spLocks noGrp="1"/>
          </p:cNvSpPr>
          <p:nvPr/>
        </p:nvSpPr>
        <p:spPr>
          <a:xfrm>
            <a:off x="3562350" y="3086100"/>
            <a:ext cx="2152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P674 collega i personaggi; P9071 descrive il character type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6003F3DA-63D5-4A86-8D9A-E437FD41CBFF}"/>
              </a:ext>
            </a:extLst>
          </p:cNvPr>
          <p:cNvSpPr>
            <a:spLocks noGrp="1"/>
          </p:cNvSpPr>
          <p:nvPr/>
        </p:nvSpPr>
        <p:spPr>
          <a:xfrm>
            <a:off x="6305550" y="2266950"/>
            <a:ext cx="257175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5327EDE-CC62-4058-98C9-FEBD48F4CDAB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38BDF8"/>
                </a:solidFill>
              </a:defRPr>
            </a:pPr>
            <a:r>
              <a:rPr sz="3600" b="1">
                <a:solidFill>
                  <a:srgbClr val="38BDF8"/>
                </a:solidFill>
              </a:rPr>
              <a:t>Archetipo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A71F65C-97A7-41DE-8F3A-B7D22A1F7CEE}"/>
              </a:ext>
            </a:extLst>
          </p:cNvPr>
          <p:cNvSpPr>
            <a:spLocks noGrp="1"/>
          </p:cNvSpPr>
          <p:nvPr/>
        </p:nvSpPr>
        <p:spPr>
          <a:xfrm>
            <a:off x="6515100" y="3086100"/>
            <a:ext cx="2152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manca spesso una classificazione narrativa vera e propria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4780C95-8D57-4D39-BDE3-F4C64ECA747F}"/>
              </a:ext>
            </a:extLst>
          </p:cNvPr>
          <p:cNvSpPr>
            <a:spLocks noGrp="1"/>
          </p:cNvSpPr>
          <p:nvPr/>
        </p:nvSpPr>
        <p:spPr>
          <a:xfrm>
            <a:off x="9258300" y="2266950"/>
            <a:ext cx="253365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BCA8984-3300-4F7F-B5AC-49A4B6483C72}"/>
              </a:ext>
            </a:extLst>
          </p:cNvPr>
          <p:cNvSpPr>
            <a:spLocks noGrp="1"/>
          </p:cNvSpPr>
          <p:nvPr/>
        </p:nvSpPr>
        <p:spPr>
          <a:xfrm>
            <a:off x="9467850" y="2476500"/>
            <a:ext cx="2114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rPr sz="3600" b="1">
                <a:solidFill>
                  <a:srgbClr val="22C55E"/>
                </a:solidFill>
              </a:rPr>
              <a:t>RDF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F4A2B08-A4D1-425E-ABE3-BEEE941B7914}"/>
              </a:ext>
            </a:extLst>
          </p:cNvPr>
          <p:cNvSpPr>
            <a:spLocks noGrp="1"/>
          </p:cNvSpPr>
          <p:nvPr/>
        </p:nvSpPr>
        <p:spPr>
          <a:xfrm>
            <a:off x="9467850" y="308610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arricchimento proposto solo dopo verifica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D040400-96C8-472C-89BD-606F68494058}"/>
              </a:ext>
            </a:extLst>
          </p:cNvPr>
          <p:cNvSpPr>
            <a:spLocks noGrp="1"/>
          </p:cNvSpPr>
          <p:nvPr/>
        </p:nvSpPr>
        <p:spPr>
          <a:xfrm>
            <a:off x="400050" y="49149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Tesi del progetto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CB63B3C-46A5-498E-BE45-1DF4F9CA9DCF}"/>
              </a:ext>
            </a:extLst>
          </p:cNvPr>
          <p:cNvSpPr>
            <a:spLocks noGrp="1"/>
          </p:cNvSpPr>
          <p:nvPr/>
        </p:nvSpPr>
        <p:spPr>
          <a:xfrm>
            <a:off x="2914650" y="4876800"/>
            <a:ext cx="819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Descriviamo entità e proprietà, poi usiamo SPARQL e LLM per trasformare l’archetipo da interpretazione testuale a dato verificabile.</a:t>
            </a:r>
          </a:p>
        </p:txBody>
      </p:sp>
    </p:spTree>
    <p:extLst>
      <p:ext uri="{BB962C8B-B14F-4D97-AF65-F5344CB8AC3E}">
        <p14:creationId xmlns:p14="http://schemas.microsoft.com/office/powerpoint/2010/main" val="41187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0D491DF-93BA-4E2A-BE1F-26ED166C16C8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Corpus e perimetro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9A022E3-53D1-4673-A812-6D633BEE37F0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Tre franchise popolari, scelti per verificare se il gap è locale o trasversale.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7604E81E-F457-405A-98D8-38CDBA71645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B43474D-7B56-49FA-A6F2-C9E184174E84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03</a:t>
            </a:r>
          </a:p>
        </p:txBody>
      </p:sp>
      <p:pic>
        <p:nvPicPr>
          <p:cNvPr id="18" name="Immagine 17"/>
          <p:cNvPicPr>
            <a:picLocks noChangeAspect="1"/>
          </p:cNvPicPr>
          <p:nvPr/>
        </p:nvPicPr>
        <p:blipFill>
          <a:blip r:embed="rId3"/>
          <a:srcRect t="123" b="123"/>
          <a:stretch>
            <a:fillRect/>
          </a:stretch>
        </p:blipFill>
        <p:spPr>
          <a:xfrm>
            <a:off x="400050" y="2038350"/>
            <a:ext cx="3429000" cy="1924050"/>
          </a:xfrm>
          <a:prstGeom prst="rect">
            <a:avLst/>
          </a:prstGeom>
        </p:spPr>
      </p:pic>
      <p:pic>
        <p:nvPicPr>
          <p:cNvPr id="19" name="Immagine 18"/>
          <p:cNvPicPr>
            <a:picLocks noChangeAspect="1"/>
          </p:cNvPicPr>
          <p:nvPr/>
        </p:nvPicPr>
        <p:blipFill>
          <a:blip r:embed="rId4"/>
          <a:srcRect t="77" b="77"/>
          <a:stretch>
            <a:fillRect/>
          </a:stretch>
        </p:blipFill>
        <p:spPr>
          <a:xfrm>
            <a:off x="4381500" y="2038350"/>
            <a:ext cx="3429000" cy="1924050"/>
          </a:xfrm>
          <a:prstGeom prst="rect">
            <a:avLst/>
          </a:prstGeom>
        </p:spPr>
      </p:pic>
      <p:pic>
        <p:nvPicPr>
          <p:cNvPr id="20" name="Immagine 19"/>
          <p:cNvPicPr>
            <a:picLocks noChangeAspect="1"/>
          </p:cNvPicPr>
          <p:nvPr/>
        </p:nvPicPr>
        <p:blipFill>
          <a:blip r:embed="rId5"/>
          <a:srcRect l="19833" r="19833"/>
          <a:stretch>
            <a:fillRect/>
          </a:stretch>
        </p:blipFill>
        <p:spPr>
          <a:xfrm>
            <a:off x="8362950" y="2038350"/>
            <a:ext cx="3429000" cy="1924050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E019B487-2E08-4032-826D-6E4E49904281}"/>
              </a:ext>
            </a:extLst>
          </p:cNvPr>
          <p:cNvSpPr>
            <a:spLocks noGrp="1"/>
          </p:cNvSpPr>
          <p:nvPr/>
        </p:nvSpPr>
        <p:spPr>
          <a:xfrm>
            <a:off x="400050" y="4171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One Piece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3A3F0B64-B0F0-43EA-9E71-CCE935EC1086}"/>
              </a:ext>
            </a:extLst>
          </p:cNvPr>
          <p:cNvSpPr>
            <a:spLocks noGrp="1"/>
          </p:cNvSpPr>
          <p:nvPr/>
        </p:nvSpPr>
        <p:spPr>
          <a:xfrm>
            <a:off x="400050" y="45720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Luffy, Nami e altri personaggi centrali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F75C938-C283-4EED-9E05-EDFEE4F8DB81}"/>
              </a:ext>
            </a:extLst>
          </p:cNvPr>
          <p:cNvSpPr>
            <a:spLocks noGrp="1"/>
          </p:cNvSpPr>
          <p:nvPr/>
        </p:nvSpPr>
        <p:spPr>
          <a:xfrm>
            <a:off x="4381500" y="4171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Naruto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D325F06-550E-4A9D-BEB8-E4C21C4369B0}"/>
              </a:ext>
            </a:extLst>
          </p:cNvPr>
          <p:cNvSpPr>
            <a:spLocks noGrp="1"/>
          </p:cNvSpPr>
          <p:nvPr/>
        </p:nvSpPr>
        <p:spPr>
          <a:xfrm>
            <a:off x="4381500" y="45720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Naruto Uzumaki, Itachi Uchiha e figure chiave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64D859D-C241-4FE2-874D-7D1A4B0A60F2}"/>
              </a:ext>
            </a:extLst>
          </p:cNvPr>
          <p:cNvSpPr>
            <a:spLocks noGrp="1"/>
          </p:cNvSpPr>
          <p:nvPr/>
        </p:nvSpPr>
        <p:spPr>
          <a:xfrm>
            <a:off x="8362950" y="4171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Death Note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9D92D73-7137-4B5C-9748-151A8A382A59}"/>
              </a:ext>
            </a:extLst>
          </p:cNvPr>
          <p:cNvSpPr>
            <a:spLocks noGrp="1"/>
          </p:cNvSpPr>
          <p:nvPr/>
        </p:nvSpPr>
        <p:spPr>
          <a:xfrm>
            <a:off x="8362950" y="4572000"/>
            <a:ext cx="342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Light Yagami, L e personaggi ad alta ambiguità morale</a:t>
            </a:r>
          </a:p>
        </p:txBody>
      </p:sp>
    </p:spTree>
    <p:extLst>
      <p:ext uri="{BB962C8B-B14F-4D97-AF65-F5344CB8AC3E}">
        <p14:creationId xmlns:p14="http://schemas.microsoft.com/office/powerpoint/2010/main" val="990827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23">
            <a:extLst>
              <a:ext uri="{FF2B5EF4-FFF2-40B4-BE49-F238E27FC236}">
                <a16:creationId xmlns:a16="http://schemas.microsoft.com/office/drawing/2014/main" id="{5470196A-01E7-4433-9DDD-48F131108B90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Pipeline SPARQL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2963963-5C4D-4253-A006-97D80C5A0626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Le query non partono dalla risposta: costruiscono progressivamente il perimetro del problema.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1AADF91B-E5A7-4A5F-8125-3B3C25A18E4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DC03599-C99B-4FCE-99F8-AFC5C57F4CB2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1F4D692-5C4D-4E6C-9AB8-36F00D798DDD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11391900" cy="3238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92CCC04-E63C-4672-8E55-09E16D559387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01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EF4D5F1-D44F-4BD6-8451-43570CF750B8}"/>
              </a:ext>
            </a:extLst>
          </p:cNvPr>
          <p:cNvSpPr>
            <a:spLocks noGrp="1"/>
          </p:cNvSpPr>
          <p:nvPr/>
        </p:nvSpPr>
        <p:spPr>
          <a:xfrm>
            <a:off x="1409700" y="2381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Disambiguazione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D0E5AE3-B58B-4632-B8DE-DD0F8E938FC1}"/>
              </a:ext>
            </a:extLst>
          </p:cNvPr>
          <p:cNvSpPr>
            <a:spLocks noGrp="1"/>
          </p:cNvSpPr>
          <p:nvPr/>
        </p:nvSpPr>
        <p:spPr>
          <a:xfrm>
            <a:off x="1409700" y="2781300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Naruto come anime, manga, franchise e omonimi.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DF6D936-ECB6-45C3-B547-E531E123D6C8}"/>
              </a:ext>
            </a:extLst>
          </p:cNvPr>
          <p:cNvSpPr>
            <a:spLocks noGrp="1"/>
          </p:cNvSpPr>
          <p:nvPr/>
        </p:nvSpPr>
        <p:spPr>
          <a:xfrm>
            <a:off x="742950" y="3476625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02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72FEA9D-1ABF-4279-889F-094A15015A75}"/>
              </a:ext>
            </a:extLst>
          </p:cNvPr>
          <p:cNvSpPr>
            <a:spLocks noGrp="1"/>
          </p:cNvSpPr>
          <p:nvPr/>
        </p:nvSpPr>
        <p:spPr>
          <a:xfrm>
            <a:off x="1409700" y="347662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Proprietà dirette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83E8340-F63B-440F-8FC1-D241F7E4FBB1}"/>
              </a:ext>
            </a:extLst>
          </p:cNvPr>
          <p:cNvSpPr>
            <a:spLocks noGrp="1"/>
          </p:cNvSpPr>
          <p:nvPr/>
        </p:nvSpPr>
        <p:spPr>
          <a:xfrm>
            <a:off x="1409700" y="3876675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Analisi delle dichiarazioni disponibili sugli item.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453C6F3-CDB1-4DC9-9583-CA1D451F63E5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03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5967285-318E-4911-8198-B24F256E676E}"/>
              </a:ext>
            </a:extLst>
          </p:cNvPr>
          <p:cNvSpPr>
            <a:spLocks noGrp="1"/>
          </p:cNvSpPr>
          <p:nvPr/>
        </p:nvSpPr>
        <p:spPr>
          <a:xfrm>
            <a:off x="1409700" y="45720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Personaggi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7143711-C539-48E2-8835-3EE8B3A9F5FE}"/>
              </a:ext>
            </a:extLst>
          </p:cNvPr>
          <p:cNvSpPr>
            <a:spLocks noGrp="1"/>
          </p:cNvSpPr>
          <p:nvPr/>
        </p:nvSpPr>
        <p:spPr>
          <a:xfrm>
            <a:off x="1409700" y="4972050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Estrazione dei personaggi collegati alle opere.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BC05106-C50F-4EEB-873A-81B98F552801}"/>
              </a:ext>
            </a:extLst>
          </p:cNvPr>
          <p:cNvSpPr>
            <a:spLocks noGrp="1"/>
          </p:cNvSpPr>
          <p:nvPr/>
        </p:nvSpPr>
        <p:spPr>
          <a:xfrm>
            <a:off x="6438900" y="23812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04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46B25A8-D925-42C5-92A4-74E0FA4A119B}"/>
              </a:ext>
            </a:extLst>
          </p:cNvPr>
          <p:cNvSpPr>
            <a:spLocks noGrp="1"/>
          </p:cNvSpPr>
          <p:nvPr/>
        </p:nvSpPr>
        <p:spPr>
          <a:xfrm>
            <a:off x="7105650" y="2381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Gap P9071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E54A700-8C35-4C79-B5DE-9B5E18B9AF09}"/>
              </a:ext>
            </a:extLst>
          </p:cNvPr>
          <p:cNvSpPr>
            <a:spLocks noGrp="1"/>
          </p:cNvSpPr>
          <p:nvPr/>
        </p:nvSpPr>
        <p:spPr>
          <a:xfrm>
            <a:off x="7105650" y="2781300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Verifica del character type sui personaggi del campione.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E8F94DC0-E844-4B91-89A6-341F1316BBBC}"/>
              </a:ext>
            </a:extLst>
          </p:cNvPr>
          <p:cNvSpPr>
            <a:spLocks noGrp="1"/>
          </p:cNvSpPr>
          <p:nvPr/>
        </p:nvSpPr>
        <p:spPr>
          <a:xfrm>
            <a:off x="6438900" y="3476625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05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EDB61EE-CDDF-403B-A726-C9A61FFCC581}"/>
              </a:ext>
            </a:extLst>
          </p:cNvPr>
          <p:cNvSpPr>
            <a:spLocks noGrp="1"/>
          </p:cNvSpPr>
          <p:nvPr/>
        </p:nvSpPr>
        <p:spPr>
          <a:xfrm>
            <a:off x="7105650" y="347662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Frammentazione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F3FFF1D8-F25B-40BA-81A9-4264EB75D501}"/>
              </a:ext>
            </a:extLst>
          </p:cNvPr>
          <p:cNvSpPr>
            <a:spLocks noGrp="1"/>
          </p:cNvSpPr>
          <p:nvPr/>
        </p:nvSpPr>
        <p:spPr>
          <a:xfrm>
            <a:off x="7105650" y="3876675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Confronto fra P9071 e P31 tramite UNION.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AB371F07-C91C-4170-B900-BA37E773DDAA}"/>
              </a:ext>
            </a:extLst>
          </p:cNvPr>
          <p:cNvSpPr>
            <a:spLocks noGrp="1"/>
          </p:cNvSpPr>
          <p:nvPr/>
        </p:nvSpPr>
        <p:spPr>
          <a:xfrm>
            <a:off x="6438900" y="45720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06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B7840591-5E82-4E17-81F7-93EEEF93D496}"/>
              </a:ext>
            </a:extLst>
          </p:cNvPr>
          <p:cNvSpPr>
            <a:spLocks noGrp="1"/>
          </p:cNvSpPr>
          <p:nvPr/>
        </p:nvSpPr>
        <p:spPr>
          <a:xfrm>
            <a:off x="7105650" y="45720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Reconciliation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1A9F4B9-8079-43E9-807C-ACE3BF2961C6}"/>
              </a:ext>
            </a:extLst>
          </p:cNvPr>
          <p:cNvSpPr>
            <a:spLocks noGrp="1"/>
          </p:cNvSpPr>
          <p:nvPr/>
        </p:nvSpPr>
        <p:spPr>
          <a:xfrm>
            <a:off x="7105650" y="4972050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Validazione del QID prima della trasformazione RDF.</a:t>
            </a:r>
          </a:p>
        </p:txBody>
      </p:sp>
    </p:spTree>
    <p:extLst>
      <p:ext uri="{BB962C8B-B14F-4D97-AF65-F5344CB8AC3E}">
        <p14:creationId xmlns:p14="http://schemas.microsoft.com/office/powerpoint/2010/main" val="12832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39E906D3-F534-4703-AD6E-BBCC8C69ADA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Evidenza del gap: character type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5615748-2EAE-4159-9429-281F1B89E4DA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Il nodo critico è P9071, la proprietà Wikidata pensata per registrare il tipo di personaggio.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9CB19EE-9154-4F5C-987B-9363DB951A9A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5DD6AA3-2C80-44E7-A802-B07DA2CB0C93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05</a:t>
            </a:r>
          </a:p>
        </p:txBody>
      </p:sp>
      <p:pic>
        <p:nvPicPr>
          <p:cNvPr id="20" name="Immagin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6194" y="2000250"/>
            <a:ext cx="4356963" cy="361950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5E5DDECD-DDAF-43D9-9ABE-6A593307DC13}"/>
              </a:ext>
            </a:extLst>
          </p:cNvPr>
          <p:cNvSpPr>
            <a:spLocks noGrp="1"/>
          </p:cNvSpPr>
          <p:nvPr/>
        </p:nvSpPr>
        <p:spPr>
          <a:xfrm>
            <a:off x="6257925" y="2000250"/>
            <a:ext cx="5534025" cy="3619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CA8D1CD-FB0E-4DC7-8866-66A6A876168C}"/>
              </a:ext>
            </a:extLst>
          </p:cNvPr>
          <p:cNvSpPr>
            <a:spLocks noGrp="1"/>
          </p:cNvSpPr>
          <p:nvPr/>
        </p:nvSpPr>
        <p:spPr>
          <a:xfrm>
            <a:off x="6572250" y="23241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Lettura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00C77B7-E94B-4065-97C5-52C1618BD6A1}"/>
              </a:ext>
            </a:extLst>
          </p:cNvPr>
          <p:cNvSpPr>
            <a:spLocks noGrp="1"/>
          </p:cNvSpPr>
          <p:nvPr/>
        </p:nvSpPr>
        <p:spPr>
          <a:xfrm>
            <a:off x="6572250" y="2981325"/>
            <a:ext cx="171450" cy="171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F8C1A47-6F1C-463A-8466-18E3764A10EA}"/>
              </a:ext>
            </a:extLst>
          </p:cNvPr>
          <p:cNvSpPr>
            <a:spLocks noGrp="1"/>
          </p:cNvSpPr>
          <p:nvPr/>
        </p:nvSpPr>
        <p:spPr>
          <a:xfrm>
            <a:off x="6896100" y="2933700"/>
            <a:ext cx="4438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Le entità hanno descrizioni e molte proprietà tecniche.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07C9566-4C95-40D9-B4BC-0E5D59703CC4}"/>
              </a:ext>
            </a:extLst>
          </p:cNvPr>
          <p:cNvSpPr>
            <a:spLocks noGrp="1"/>
          </p:cNvSpPr>
          <p:nvPr/>
        </p:nvSpPr>
        <p:spPr>
          <a:xfrm>
            <a:off x="6572250" y="3590925"/>
            <a:ext cx="171450" cy="171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591DD25-B572-4825-811F-1289F1FE2384}"/>
              </a:ext>
            </a:extLst>
          </p:cNvPr>
          <p:cNvSpPr>
            <a:spLocks noGrp="1"/>
          </p:cNvSpPr>
          <p:nvPr/>
        </p:nvSpPr>
        <p:spPr>
          <a:xfrm>
            <a:off x="6896100" y="3543300"/>
            <a:ext cx="4438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P674 identifica i personaggi collegati alle opere.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144CB67-E503-4F18-8E08-68CB63C09CDD}"/>
              </a:ext>
            </a:extLst>
          </p:cNvPr>
          <p:cNvSpPr>
            <a:spLocks noGrp="1"/>
          </p:cNvSpPr>
          <p:nvPr/>
        </p:nvSpPr>
        <p:spPr>
          <a:xfrm>
            <a:off x="6572250" y="4200525"/>
            <a:ext cx="171450" cy="171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86FBC9A-1834-4212-81D1-A09A25E63596}"/>
              </a:ext>
            </a:extLst>
          </p:cNvPr>
          <p:cNvSpPr>
            <a:spLocks noGrp="1"/>
          </p:cNvSpPr>
          <p:nvPr/>
        </p:nvSpPr>
        <p:spPr>
          <a:xfrm>
            <a:off x="6896100" y="4152900"/>
            <a:ext cx="4438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P9071 dovrebbe contenere il character type.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9CF6FC5-1096-48EB-8634-2A7DA045F0AE}"/>
              </a:ext>
            </a:extLst>
          </p:cNvPr>
          <p:cNvSpPr>
            <a:spLocks noGrp="1"/>
          </p:cNvSpPr>
          <p:nvPr/>
        </p:nvSpPr>
        <p:spPr>
          <a:xfrm>
            <a:off x="6572250" y="4810125"/>
            <a:ext cx="171450" cy="1714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BCB64E6B-D0FE-4DD0-B3D0-4E291868891F}"/>
              </a:ext>
            </a:extLst>
          </p:cNvPr>
          <p:cNvSpPr>
            <a:spLocks noGrp="1"/>
          </p:cNvSpPr>
          <p:nvPr/>
        </p:nvSpPr>
        <p:spPr>
          <a:xfrm>
            <a:off x="6896100" y="4762500"/>
            <a:ext cx="4438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Nel campione il character type è assente o frammentato.</a:t>
            </a:r>
          </a:p>
        </p:txBody>
      </p:sp>
    </p:spTree>
    <p:extLst>
      <p:ext uri="{BB962C8B-B14F-4D97-AF65-F5344CB8AC3E}">
        <p14:creationId xmlns:p14="http://schemas.microsoft.com/office/powerpoint/2010/main" val="45379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1C7F087-1D6F-4723-AB53-543843766FC4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Quantificare la copertura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2F48D01-69D9-436E-896D-C807D233E2E0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Query 8 attuale: il character type è valorizzato solo per pochi personaggi, mentre la maggioranza resta senza archetipo.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E000A7A-FEC1-42A7-9AC7-4B4429994522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C8A12D4-34D6-42F4-9082-05A9194917A6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590550" y="2152650"/>
          <a:ext cx="58102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ttangolo 5">
            <a:extLst>
              <a:ext uri="{FF2B5EF4-FFF2-40B4-BE49-F238E27FC236}">
                <a16:creationId xmlns:a16="http://schemas.microsoft.com/office/drawing/2014/main" id="{BDFAC09E-FC07-4D28-B7A5-C450B53FB42F}"/>
              </a:ext>
            </a:extLst>
          </p:cNvPr>
          <p:cNvSpPr>
            <a:spLocks noGrp="1"/>
          </p:cNvSpPr>
          <p:nvPr/>
        </p:nvSpPr>
        <p:spPr>
          <a:xfrm>
            <a:off x="7124700" y="2362200"/>
            <a:ext cx="209550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347DAF8-EB89-402B-9F17-E4523D7F2732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43F5E"/>
                </a:solidFill>
              </a:defRPr>
            </a:pPr>
            <a:r>
              <a:rPr lang="it-IT" sz="3600" b="1" dirty="0">
                <a:solidFill>
                  <a:srgbClr val="F43F5E"/>
                </a:solidFill>
              </a:rPr>
              <a:t>8</a:t>
            </a:r>
            <a:endParaRPr sz="3600" b="1" dirty="0">
              <a:solidFill>
                <a:srgbClr val="F43F5E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C8B654D-4415-404A-AD4D-A192BA94FCB1}"/>
              </a:ext>
            </a:extLst>
          </p:cNvPr>
          <p:cNvSpPr>
            <a:spLocks noGrp="1"/>
          </p:cNvSpPr>
          <p:nvPr/>
        </p:nvSpPr>
        <p:spPr>
          <a:xfrm>
            <a:off x="7334250" y="3181350"/>
            <a:ext cx="1676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personaggi univoci con character type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FCB3209-35E5-48CA-A2D4-4B9BDB4123EF}"/>
              </a:ext>
            </a:extLst>
          </p:cNvPr>
          <p:cNvSpPr>
            <a:spLocks noGrp="1"/>
          </p:cNvSpPr>
          <p:nvPr/>
        </p:nvSpPr>
        <p:spPr>
          <a:xfrm>
            <a:off x="9601200" y="2362200"/>
            <a:ext cx="209550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0D9F557-BC35-4A4E-9784-B82B3005B7F8}"/>
              </a:ext>
            </a:extLst>
          </p:cNvPr>
          <p:cNvSpPr>
            <a:spLocks noGrp="1"/>
          </p:cNvSpPr>
          <p:nvPr/>
        </p:nvSpPr>
        <p:spPr>
          <a:xfrm>
            <a:off x="9810750" y="2571750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1107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8B2FC28-4F35-41A2-9E89-CFE245365FC8}"/>
              </a:ext>
            </a:extLst>
          </p:cNvPr>
          <p:cNvSpPr>
            <a:spLocks noGrp="1"/>
          </p:cNvSpPr>
          <p:nvPr/>
        </p:nvSpPr>
        <p:spPr>
          <a:xfrm>
            <a:off x="9810750" y="3181350"/>
            <a:ext cx="1676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personaggi univoci senza character type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FA94FFD-8FA3-4874-BAEF-20D7245B37E9}"/>
              </a:ext>
            </a:extLst>
          </p:cNvPr>
          <p:cNvSpPr>
            <a:spLocks noGrp="1"/>
          </p:cNvSpPr>
          <p:nvPr/>
        </p:nvSpPr>
        <p:spPr>
          <a:xfrm>
            <a:off x="7124700" y="4495800"/>
            <a:ext cx="457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</a:defRPr>
            </a:pPr>
            <a:r>
              <a:rPr lang="it-IT" sz="1650" b="0" dirty="0">
                <a:solidFill>
                  <a:srgbClr val="475569"/>
                </a:solidFill>
              </a:rPr>
              <a:t>Il </a:t>
            </a:r>
            <a:r>
              <a:rPr sz="1650" b="0" dirty="0">
                <a:solidFill>
                  <a:srgbClr val="475569"/>
                </a:solidFill>
              </a:rPr>
              <a:t>gap non </a:t>
            </a:r>
            <a:r>
              <a:rPr sz="1650" b="0" dirty="0" err="1">
                <a:solidFill>
                  <a:srgbClr val="475569"/>
                </a:solidFill>
              </a:rPr>
              <a:t>riguarda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pochi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casi</a:t>
            </a:r>
            <a:r>
              <a:rPr sz="1650" b="0" dirty="0">
                <a:solidFill>
                  <a:srgbClr val="475569"/>
                </a:solidFill>
              </a:rPr>
              <a:t>, ma quasi </a:t>
            </a:r>
            <a:r>
              <a:rPr sz="1650" b="0" dirty="0" err="1">
                <a:solidFill>
                  <a:srgbClr val="475569"/>
                </a:solidFill>
              </a:rPr>
              <a:t>tutto</a:t>
            </a:r>
            <a:r>
              <a:rPr sz="1650" b="0" dirty="0">
                <a:solidFill>
                  <a:srgbClr val="475569"/>
                </a:solidFill>
              </a:rPr>
              <a:t> il </a:t>
            </a:r>
            <a:r>
              <a:rPr sz="1650" b="0" dirty="0" err="1">
                <a:solidFill>
                  <a:srgbClr val="475569"/>
                </a:solidFill>
              </a:rPr>
              <a:t>campione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estratto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dalle</a:t>
            </a:r>
            <a:r>
              <a:rPr sz="1650" b="0" dirty="0">
                <a:solidFill>
                  <a:srgbClr val="475569"/>
                </a:solidFill>
              </a:rPr>
              <a:t> opere </a:t>
            </a:r>
            <a:r>
              <a:rPr sz="1650" b="0" dirty="0" err="1">
                <a:solidFill>
                  <a:srgbClr val="475569"/>
                </a:solidFill>
              </a:rPr>
              <a:t>analizzate</a:t>
            </a:r>
            <a:r>
              <a:rPr sz="1650" b="0" dirty="0">
                <a:solidFill>
                  <a:srgbClr val="47556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5715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49EDD96D-F14F-46B9-8ABF-DAF9C8AB50E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Frammentazione semantica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5D956C4-3724-464C-A17E-BC5C2EE0D762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Stock character indica un tipo narrativo ricorrente: un modello di personaggio riconoscibile, come villain, antihero o tragic hero.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D260959-48EC-4502-9813-195B9D40E3A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AF3AEE9-C430-4A6D-BD0E-22E64A85F40C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8197098-F926-4C41-B6B5-E495BE8B02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572000" cy="21907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B294B79-CDBB-483F-AE9D-48D80ECE2D72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4572000" cy="21907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F4199E9-24B5-4FF0-846A-9946442BC842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Percorso ufficiale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E03A375-FE33-4CE6-B69A-CE0CD3B5667A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3524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43F5E"/>
                </a:solidFill>
              </a:defRPr>
            </a:pPr>
            <a:r>
              <a:rPr sz="1950" b="0">
                <a:solidFill>
                  <a:srgbClr val="F43F5E"/>
                </a:solidFill>
              </a:rPr>
              <a:t>?personaggio</a:t>
            </a:r>
          </a:p>
          <a:p>
            <a:pPr algn="l">
              <a:defRPr sz="1950" b="0">
                <a:solidFill>
                  <a:srgbClr val="F43F5E"/>
                </a:solidFill>
              </a:defRPr>
            </a:pPr>
            <a:r>
              <a:rPr sz="1950" b="0">
                <a:solidFill>
                  <a:srgbClr val="F43F5E"/>
                </a:solidFill>
              </a:rPr>
              <a:t>  wdt:P9071 ?tipo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6C1AA62-C4E3-4158-9EAF-8CEC6E8BBABD}"/>
              </a:ext>
            </a:extLst>
          </p:cNvPr>
          <p:cNvSpPr>
            <a:spLocks noGrp="1"/>
          </p:cNvSpPr>
          <p:nvPr/>
        </p:nvSpPr>
        <p:spPr>
          <a:xfrm>
            <a:off x="990600" y="38100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P9071 dichiara direttamente il character type del personaggio.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A5E6033-B432-4532-A4E5-414CE6B10DB6}"/>
              </a:ext>
            </a:extLst>
          </p:cNvPr>
          <p:cNvSpPr>
            <a:spLocks noGrp="1"/>
          </p:cNvSpPr>
          <p:nvPr/>
        </p:nvSpPr>
        <p:spPr>
          <a:xfrm>
            <a:off x="7391400" y="24003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Percorso indiretto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DE0FC79-1BD0-4325-9897-C87AB58644B8}"/>
              </a:ext>
            </a:extLst>
          </p:cNvPr>
          <p:cNvSpPr>
            <a:spLocks noGrp="1"/>
          </p:cNvSpPr>
          <p:nvPr/>
        </p:nvSpPr>
        <p:spPr>
          <a:xfrm>
            <a:off x="7391400" y="29718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38BDF8"/>
                </a:solidFill>
              </a:defRPr>
            </a:pPr>
            <a:r>
              <a:rPr sz="1950" b="0">
                <a:solidFill>
                  <a:srgbClr val="38BDF8"/>
                </a:solidFill>
              </a:rPr>
              <a:t>?personaggio</a:t>
            </a:r>
          </a:p>
          <a:p>
            <a:pPr algn="l">
              <a:defRPr sz="1950" b="0">
                <a:solidFill>
                  <a:srgbClr val="38BDF8"/>
                </a:solidFill>
              </a:defRPr>
            </a:pPr>
            <a:r>
              <a:rPr sz="1950" b="0">
                <a:solidFill>
                  <a:srgbClr val="38BDF8"/>
                </a:solidFill>
              </a:rPr>
              <a:t>  wdt:P31 ?stockCharacter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5D4FFF5-602D-4436-A2DD-AABCB62A41E8}"/>
              </a:ext>
            </a:extLst>
          </p:cNvPr>
          <p:cNvSpPr>
            <a:spLocks noGrp="1"/>
          </p:cNvSpPr>
          <p:nvPr/>
        </p:nvSpPr>
        <p:spPr>
          <a:xfrm>
            <a:off x="7391400" y="3810000"/>
            <a:ext cx="352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P31 classifica il personaggio come istanza di un archetipo già esistente.</a:t>
            </a:r>
          </a:p>
        </p:txBody>
      </p:sp>
      <p:sp>
        <p:nvSpPr>
          <p:cNvPr id="13" name="Connettore dritto 12">
            <a:extLst>
              <a:ext uri="{FF2B5EF4-FFF2-40B4-BE49-F238E27FC236}">
                <a16:creationId xmlns:a16="http://schemas.microsoft.com/office/drawing/2014/main" id="{3A4C9C26-0C65-4D20-9793-8163C6D34173}"/>
              </a:ext>
            </a:extLst>
          </p:cNvPr>
          <p:cNvSpPr>
            <a:spLocks noGrp="1"/>
          </p:cNvSpPr>
          <p:nvPr/>
        </p:nvSpPr>
        <p:spPr>
          <a:xfrm>
            <a:off x="5219700" y="3209925"/>
            <a:ext cx="17145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5533206-4F80-452C-B927-2DEBCC4748F5}"/>
              </a:ext>
            </a:extLst>
          </p:cNvPr>
          <p:cNvSpPr>
            <a:spLocks noGrp="1"/>
          </p:cNvSpPr>
          <p:nvPr/>
        </p:nvSpPr>
        <p:spPr>
          <a:xfrm>
            <a:off x="5467350" y="2867025"/>
            <a:ext cx="121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UNION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AD83E1C-6776-4AB6-90A1-05D2FD1753CA}"/>
              </a:ext>
            </a:extLst>
          </p:cNvPr>
          <p:cNvSpPr>
            <a:spLocks noGrp="1"/>
          </p:cNvSpPr>
          <p:nvPr/>
        </p:nvSpPr>
        <p:spPr>
          <a:xfrm>
            <a:off x="2000250" y="4762500"/>
            <a:ext cx="8191500" cy="89535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12FF420-771D-4C77-AC41-8A7AE55980EE}"/>
              </a:ext>
            </a:extLst>
          </p:cNvPr>
          <p:cNvSpPr>
            <a:spLocks noGrp="1"/>
          </p:cNvSpPr>
          <p:nvPr/>
        </p:nvSpPr>
        <p:spPr>
          <a:xfrm>
            <a:off x="2362200" y="49530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Nel progetto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6EC9ECC-D51D-4BFC-B2E9-5ABDA70315E8}"/>
              </a:ext>
            </a:extLst>
          </p:cNvPr>
          <p:cNvSpPr>
            <a:spLocks noGrp="1"/>
          </p:cNvSpPr>
          <p:nvPr/>
        </p:nvSpPr>
        <p:spPr>
          <a:xfrm>
            <a:off x="4095750" y="4914900"/>
            <a:ext cx="561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Se un archetipo generale esiste come stock character in Wikidata lo riusiamo; se non esiste, creiamo una risorsa locale ex novo.</a:t>
            </a:r>
          </a:p>
        </p:txBody>
      </p:sp>
    </p:spTree>
    <p:extLst>
      <p:ext uri="{BB962C8B-B14F-4D97-AF65-F5344CB8AC3E}">
        <p14:creationId xmlns:p14="http://schemas.microsoft.com/office/powerpoint/2010/main" val="171941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F780BAA4-8D3F-4A99-9A7A-D8A2B3AEEE7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LLM come strumenti di proposta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22805A2-0E99-4DE4-980D-8CDE2A8F4F07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Il modello suggerisce classificazioni, ma non produce direttamente QID o triple definitive.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1E42D79-3FC5-400C-9575-56A61DB5148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EFBF275-6732-4501-9F72-B873F9ED5541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92D9088-103B-43B6-A727-882F32FD2F06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3581400" cy="285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516B332-DAEA-4116-8502-6586DC28F3B9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171450" cy="17145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DBBB982-5A38-4AAD-9F84-D384C159BD30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Zero-shot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FB5B11B-EB36-4D4A-9CD9-D782C8037F68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295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Rapido, ma tende a generare etichette variabili e poco motivate.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7CF7108-30C1-40C6-BD99-48C957B8A329}"/>
              </a:ext>
            </a:extLst>
          </p:cNvPr>
          <p:cNvSpPr>
            <a:spLocks noGrp="1"/>
          </p:cNvSpPr>
          <p:nvPr/>
        </p:nvSpPr>
        <p:spPr>
          <a:xfrm>
            <a:off x="4305300" y="2209800"/>
            <a:ext cx="3581400" cy="28575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29D9CC2-92A3-4EA4-BED1-670E52D94B5C}"/>
              </a:ext>
            </a:extLst>
          </p:cNvPr>
          <p:cNvSpPr>
            <a:spLocks noGrp="1"/>
          </p:cNvSpPr>
          <p:nvPr/>
        </p:nvSpPr>
        <p:spPr>
          <a:xfrm>
            <a:off x="4572000" y="2495550"/>
            <a:ext cx="171450" cy="1714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16F8042-B5AD-4EB3-B24F-FD05734C4F21}"/>
              </a:ext>
            </a:extLst>
          </p:cNvPr>
          <p:cNvSpPr>
            <a:spLocks noGrp="1"/>
          </p:cNvSpPr>
          <p:nvPr/>
        </p:nvSpPr>
        <p:spPr>
          <a:xfrm>
            <a:off x="4933950" y="23812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43F5E"/>
                </a:solidFill>
              </a:defRPr>
            </a:pPr>
            <a:r>
              <a:rPr sz="2250" b="1">
                <a:solidFill>
                  <a:srgbClr val="F43F5E"/>
                </a:solidFill>
              </a:rPr>
              <a:t>Few-shot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44DBDCA-C895-450B-8CD0-A989D665EAC2}"/>
              </a:ext>
            </a:extLst>
          </p:cNvPr>
          <p:cNvSpPr>
            <a:spLocks noGrp="1"/>
          </p:cNvSpPr>
          <p:nvPr/>
        </p:nvSpPr>
        <p:spPr>
          <a:xfrm>
            <a:off x="4572000" y="3143250"/>
            <a:ext cx="295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Stabilizza il formato, ma può introdurre bias dagli esempi.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4057E89-3052-42F8-9EF3-A086D214B6E6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581400" cy="285750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F9DCA9D-DC61-414D-A272-39FAC91DF3B3}"/>
              </a:ext>
            </a:extLst>
          </p:cNvPr>
          <p:cNvSpPr>
            <a:spLocks noGrp="1"/>
          </p:cNvSpPr>
          <p:nvPr/>
        </p:nvSpPr>
        <p:spPr>
          <a:xfrm>
            <a:off x="8477250" y="2495550"/>
            <a:ext cx="171450" cy="17145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99D7018-2B34-4279-99FD-C6F3FCF1E4A3}"/>
              </a:ext>
            </a:extLst>
          </p:cNvPr>
          <p:cNvSpPr>
            <a:spLocks noGrp="1"/>
          </p:cNvSpPr>
          <p:nvPr/>
        </p:nvSpPr>
        <p:spPr>
          <a:xfrm>
            <a:off x="8839200" y="238125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Zero-shot CoT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ABC322B-4705-40B8-BB1B-AF21CFD4BAD6}"/>
              </a:ext>
            </a:extLst>
          </p:cNvPr>
          <p:cNvSpPr>
            <a:spLocks noGrp="1"/>
          </p:cNvSpPr>
          <p:nvPr/>
        </p:nvSpPr>
        <p:spPr>
          <a:xfrm>
            <a:off x="8477250" y="3143250"/>
            <a:ext cx="295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Più utile nei casi ambigui: esplicita funzione narrativa e motivazione.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B326F69-226C-4ECF-8346-475F74AD5C99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1038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 dirty="0" err="1">
                <a:solidFill>
                  <a:srgbClr val="0F172A"/>
                </a:solidFill>
              </a:rPr>
              <a:t>Scelta</a:t>
            </a:r>
            <a:r>
              <a:rPr sz="1800" b="1" dirty="0">
                <a:solidFill>
                  <a:srgbClr val="0F172A"/>
                </a:solidFill>
              </a:rPr>
              <a:t> </a:t>
            </a:r>
            <a:r>
              <a:rPr sz="1800" b="1" dirty="0" err="1">
                <a:solidFill>
                  <a:srgbClr val="0F172A"/>
                </a:solidFill>
              </a:rPr>
              <a:t>metodologica</a:t>
            </a:r>
            <a:r>
              <a:rPr sz="1800" b="1" dirty="0">
                <a:solidFill>
                  <a:srgbClr val="0F172A"/>
                </a:solidFill>
              </a:rPr>
              <a:t>: output </a:t>
            </a:r>
            <a:r>
              <a:rPr sz="1800" b="1" dirty="0" err="1">
                <a:solidFill>
                  <a:srgbClr val="0F172A"/>
                </a:solidFill>
              </a:rPr>
              <a:t>testuale</a:t>
            </a:r>
            <a:r>
              <a:rPr sz="1800" b="1" dirty="0">
                <a:solidFill>
                  <a:srgbClr val="0F172A"/>
                </a:solidFill>
              </a:rPr>
              <a:t> </a:t>
            </a:r>
            <a:r>
              <a:rPr sz="1800" b="1" dirty="0" err="1">
                <a:solidFill>
                  <a:srgbClr val="0F172A"/>
                </a:solidFill>
              </a:rPr>
              <a:t>motivato</a:t>
            </a:r>
            <a:r>
              <a:rPr sz="1800" b="1" dirty="0">
                <a:solidFill>
                  <a:srgbClr val="0F172A"/>
                </a:solidFill>
              </a:rPr>
              <a:t> → </a:t>
            </a:r>
            <a:r>
              <a:rPr sz="1800" b="1" dirty="0" err="1">
                <a:solidFill>
                  <a:srgbClr val="0F172A"/>
                </a:solidFill>
              </a:rPr>
              <a:t>normalizzazione</a:t>
            </a:r>
            <a:r>
              <a:rPr sz="1800" b="1" dirty="0">
                <a:solidFill>
                  <a:srgbClr val="0F172A"/>
                </a:solidFill>
              </a:rPr>
              <a:t> </a:t>
            </a:r>
            <a:r>
              <a:rPr sz="1800" b="1" dirty="0" err="1">
                <a:solidFill>
                  <a:srgbClr val="0F172A"/>
                </a:solidFill>
              </a:rPr>
              <a:t>umana</a:t>
            </a:r>
            <a:r>
              <a:rPr sz="1800" b="1" dirty="0">
                <a:solidFill>
                  <a:srgbClr val="0F172A"/>
                </a:solidFill>
              </a:rPr>
              <a:t> → </a:t>
            </a:r>
            <a:r>
              <a:rPr sz="1800" b="1" dirty="0" err="1">
                <a:solidFill>
                  <a:srgbClr val="0F172A"/>
                </a:solidFill>
              </a:rPr>
              <a:t>controllo</a:t>
            </a:r>
            <a:r>
              <a:rPr sz="1800" b="1" dirty="0">
                <a:solidFill>
                  <a:srgbClr val="0F172A"/>
                </a:solidFill>
              </a:rPr>
              <a:t> SPARQL → RDF.</a:t>
            </a:r>
          </a:p>
        </p:txBody>
      </p:sp>
    </p:spTree>
    <p:extLst>
      <p:ext uri="{BB962C8B-B14F-4D97-AF65-F5344CB8AC3E}">
        <p14:creationId xmlns:p14="http://schemas.microsoft.com/office/powerpoint/2010/main" val="105862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ABD2E8AA-E119-4887-845A-6844DDA33381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Da ipotesi a tripla RDF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AD46544-09F2-46D3-99BD-D08990246844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Dopo la verifica degli output LLM inseriamo sia l’archetipo generale sia quello giapponese.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0CA00A4-22F1-4D67-827D-19D21251193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5B5EE3B-1D35-4194-A17A-60267F5B14F5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3485C7B-1EC6-4A28-BBD7-6B2D828236E0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5143500" cy="3429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03FC240-BCC5-425B-BE03-E81C4300F359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Esempio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377BF9D-BD97-4F1F-9976-5A6DE15AB26B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4000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F43F5E"/>
                </a:solidFill>
              </a:defRPr>
            </a:pPr>
            <a:r>
              <a:rPr sz="2400" b="1">
                <a:solidFill>
                  <a:srgbClr val="F43F5E"/>
                </a:solidFill>
              </a:rPr>
              <a:t>Itachi Uchiha</a:t>
            </a:r>
          </a:p>
          <a:p>
            <a:pPr algn="l">
              <a:defRPr sz="2400" b="1">
                <a:solidFill>
                  <a:srgbClr val="F43F5E"/>
                </a:solidFill>
              </a:defRPr>
            </a:pPr>
            <a:r>
              <a:rPr sz="2400" b="1">
                <a:solidFill>
                  <a:srgbClr val="F43F5E"/>
                </a:solidFill>
              </a:rPr>
              <a:t>→ tragic hero</a:t>
            </a:r>
          </a:p>
          <a:p>
            <a:pPr algn="l">
              <a:defRPr sz="2400" b="1">
                <a:solidFill>
                  <a:srgbClr val="F43F5E"/>
                </a:solidFill>
              </a:defRPr>
            </a:pPr>
            <a:r>
              <a:rPr sz="2400" b="1">
                <a:solidFill>
                  <a:srgbClr val="F43F5E"/>
                </a:solidFill>
              </a:rPr>
              <a:t>→ wd:Q1969230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2C4941A-C235-4893-B363-713AD9568BA1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4095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Stock character = archetipo narrativo ricorrente già riconosciuto. Se esiste in Wikidata lo riusiamo; se manca, lo creiamo nel namespace locale.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9E327F4-A332-4BD9-889F-E487A5C5625A}"/>
              </a:ext>
            </a:extLst>
          </p:cNvPr>
          <p:cNvSpPr>
            <a:spLocks noGrp="1"/>
          </p:cNvSpPr>
          <p:nvPr/>
        </p:nvSpPr>
        <p:spPr>
          <a:xfrm>
            <a:off x="6076950" y="2000250"/>
            <a:ext cx="5715000" cy="342900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3AF688C-996C-470A-AC58-7CE3B5AC7D70}"/>
              </a:ext>
            </a:extLst>
          </p:cNvPr>
          <p:cNvSpPr>
            <a:spLocks noGrp="1"/>
          </p:cNvSpPr>
          <p:nvPr/>
        </p:nvSpPr>
        <p:spPr>
          <a:xfrm>
            <a:off x="6419850" y="2419350"/>
            <a:ext cx="4953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FFFFFF"/>
                </a:solidFill>
              </a:defRPr>
            </a:pPr>
            <a:r>
              <a:rPr lang="it-IT" sz="1600" dirty="0">
                <a:solidFill>
                  <a:srgbClr val="FFFFFF"/>
                </a:solidFill>
              </a:rPr>
              <a:t>wd:Q1043344</a:t>
            </a:r>
          </a:p>
          <a:p>
            <a:pPr>
              <a:defRPr sz="1725" b="0">
                <a:solidFill>
                  <a:srgbClr val="FFFFFF"/>
                </a:solidFill>
              </a:defRPr>
            </a:pPr>
            <a:r>
              <a:rPr lang="it-IT" sz="1600" dirty="0">
                <a:solidFill>
                  <a:srgbClr val="FFFFFF"/>
                </a:solidFill>
              </a:rPr>
              <a:t>    </a:t>
            </a:r>
            <a:r>
              <a:rPr lang="it-IT" sz="1600" dirty="0" err="1">
                <a:solidFill>
                  <a:srgbClr val="FFFFFF"/>
                </a:solidFill>
              </a:rPr>
              <a:t>animanga:hasGeneralArchetype</a:t>
            </a:r>
            <a:r>
              <a:rPr lang="it-IT" sz="1600" dirty="0">
                <a:solidFill>
                  <a:srgbClr val="FFFFFF"/>
                </a:solidFill>
              </a:rPr>
              <a:t> wd:Q1969230 ;</a:t>
            </a:r>
          </a:p>
          <a:p>
            <a:pPr>
              <a:defRPr sz="1725" b="0">
                <a:solidFill>
                  <a:srgbClr val="FFFFFF"/>
                </a:solidFill>
              </a:defRPr>
            </a:pPr>
            <a:r>
              <a:rPr lang="it-IT" sz="1600" dirty="0">
                <a:solidFill>
                  <a:srgbClr val="FFFFFF"/>
                </a:solidFill>
              </a:rPr>
              <a:t>    </a:t>
            </a:r>
            <a:r>
              <a:rPr lang="it-IT" sz="1600" dirty="0" err="1">
                <a:solidFill>
                  <a:srgbClr val="FFFFFF"/>
                </a:solidFill>
              </a:rPr>
              <a:t>animanga:hasJapaneseArchetype</a:t>
            </a:r>
            <a:r>
              <a:rPr lang="it-IT" sz="1600" dirty="0">
                <a:solidFill>
                  <a:srgbClr val="FFFFFF"/>
                </a:solidFill>
              </a:rPr>
              <a:t> </a:t>
            </a:r>
            <a:r>
              <a:rPr lang="it-IT" sz="1600" dirty="0" err="1">
                <a:solidFill>
                  <a:srgbClr val="FFFFFF"/>
                </a:solidFill>
              </a:rPr>
              <a:t>ex:sacrificial-shinobi</a:t>
            </a:r>
            <a:r>
              <a:rPr lang="it-IT" sz="1600" dirty="0">
                <a:solidFill>
                  <a:srgbClr val="FFFFFF"/>
                </a:solidFill>
              </a:rPr>
              <a:t> .</a:t>
            </a:r>
          </a:p>
          <a:p>
            <a:pPr>
              <a:defRPr sz="1725" b="0">
                <a:solidFill>
                  <a:srgbClr val="FFFFFF"/>
                </a:solidFill>
              </a:defRPr>
            </a:pPr>
            <a:endParaRPr lang="it-IT" sz="1600" dirty="0">
              <a:solidFill>
                <a:srgbClr val="FFFFFF"/>
              </a:solidFill>
            </a:endParaRPr>
          </a:p>
          <a:p>
            <a:pPr>
              <a:defRPr sz="1725" b="0">
                <a:solidFill>
                  <a:srgbClr val="FFFFFF"/>
                </a:solidFill>
              </a:defRPr>
            </a:pPr>
            <a:r>
              <a:rPr lang="it-IT" sz="1600" dirty="0" err="1">
                <a:solidFill>
                  <a:srgbClr val="FFFFFF"/>
                </a:solidFill>
              </a:rPr>
              <a:t>ex:sacrificial-shinobi</a:t>
            </a:r>
            <a:endParaRPr lang="it-IT" sz="1600" dirty="0">
              <a:solidFill>
                <a:srgbClr val="FFFFFF"/>
              </a:solidFill>
            </a:endParaRPr>
          </a:p>
          <a:p>
            <a:pPr>
              <a:defRPr sz="1725" b="0">
                <a:solidFill>
                  <a:srgbClr val="FFFFFF"/>
                </a:solidFill>
              </a:defRPr>
            </a:pPr>
            <a:r>
              <a:rPr lang="it-IT" sz="1600" dirty="0">
                <a:solidFill>
                  <a:srgbClr val="FFFFFF"/>
                </a:solidFill>
              </a:rPr>
              <a:t>    </a:t>
            </a:r>
            <a:r>
              <a:rPr lang="it-IT" sz="1600" dirty="0" err="1">
                <a:solidFill>
                  <a:srgbClr val="FFFFFF"/>
                </a:solidFill>
              </a:rPr>
              <a:t>rdfs:label</a:t>
            </a:r>
            <a:r>
              <a:rPr lang="it-IT" sz="1600" dirty="0">
                <a:solidFill>
                  <a:srgbClr val="FFFFFF"/>
                </a:solidFill>
              </a:rPr>
              <a:t> "</a:t>
            </a:r>
            <a:r>
              <a:rPr lang="it-IT" sz="1600" dirty="0" err="1">
                <a:solidFill>
                  <a:srgbClr val="FFFFFF"/>
                </a:solidFill>
              </a:rPr>
              <a:t>shinobi</a:t>
            </a:r>
            <a:r>
              <a:rPr lang="it-IT" sz="1600" dirty="0">
                <a:solidFill>
                  <a:srgbClr val="FFFFFF"/>
                </a:solidFill>
              </a:rPr>
              <a:t> </a:t>
            </a:r>
            <a:r>
              <a:rPr lang="it-IT" sz="1600" dirty="0" err="1">
                <a:solidFill>
                  <a:srgbClr val="FFFFFF"/>
                </a:solidFill>
              </a:rPr>
              <a:t>sacrificiale</a:t>
            </a:r>
            <a:r>
              <a:rPr lang="it-IT" sz="1600" dirty="0">
                <a:solidFill>
                  <a:srgbClr val="FFFFFF"/>
                </a:solidFill>
              </a:rPr>
              <a:t>"@</a:t>
            </a:r>
            <a:r>
              <a:rPr lang="it-IT" sz="1600" dirty="0" err="1">
                <a:solidFill>
                  <a:srgbClr val="FFFFFF"/>
                </a:solidFill>
              </a:rPr>
              <a:t>it</a:t>
            </a:r>
            <a:r>
              <a:rPr lang="it-IT" sz="1600" dirty="0">
                <a:solidFill>
                  <a:srgbClr val="FFFFFF"/>
                </a:solidFill>
              </a:rPr>
              <a:t> ;</a:t>
            </a:r>
          </a:p>
          <a:p>
            <a:pPr>
              <a:defRPr sz="1725" b="0">
                <a:solidFill>
                  <a:srgbClr val="FFFFFF"/>
                </a:solidFill>
              </a:defRPr>
            </a:pPr>
            <a:r>
              <a:rPr lang="it-IT" sz="1600" dirty="0">
                <a:solidFill>
                  <a:srgbClr val="FFFFFF"/>
                </a:solidFill>
              </a:rPr>
              <a:t>    </a:t>
            </a:r>
            <a:r>
              <a:rPr lang="it-IT" sz="1600" dirty="0" err="1">
                <a:solidFill>
                  <a:srgbClr val="FFFFFF"/>
                </a:solidFill>
              </a:rPr>
              <a:t>rdfs:label</a:t>
            </a:r>
            <a:r>
              <a:rPr lang="it-IT" sz="1600" dirty="0">
                <a:solidFill>
                  <a:srgbClr val="FFFFFF"/>
                </a:solidFill>
              </a:rPr>
              <a:t> "</a:t>
            </a:r>
            <a:r>
              <a:rPr lang="it-IT" sz="1600" dirty="0" err="1">
                <a:solidFill>
                  <a:srgbClr val="FFFFFF"/>
                </a:solidFill>
              </a:rPr>
              <a:t>sacrificial</a:t>
            </a:r>
            <a:r>
              <a:rPr lang="it-IT" sz="1600" dirty="0">
                <a:solidFill>
                  <a:srgbClr val="FFFFFF"/>
                </a:solidFill>
              </a:rPr>
              <a:t> </a:t>
            </a:r>
            <a:r>
              <a:rPr lang="it-IT" sz="1600" dirty="0" err="1">
                <a:solidFill>
                  <a:srgbClr val="FFFFFF"/>
                </a:solidFill>
              </a:rPr>
              <a:t>shinobi</a:t>
            </a:r>
            <a:r>
              <a:rPr lang="it-IT" sz="1600" dirty="0">
                <a:solidFill>
                  <a:srgbClr val="FFFFFF"/>
                </a:solidFill>
              </a:rPr>
              <a:t>"@en .</a:t>
            </a:r>
            <a:endParaRPr sz="1600" b="0" dirty="0">
              <a:solidFill>
                <a:srgbClr val="FFFFFF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E158B02-4E24-491E-A04E-B7014610D224}"/>
              </a:ext>
            </a:extLst>
          </p:cNvPr>
          <p:cNvSpPr>
            <a:spLocks noGrp="1"/>
          </p:cNvSpPr>
          <p:nvPr/>
        </p:nvSpPr>
        <p:spPr>
          <a:xfrm>
            <a:off x="6419850" y="45148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CBD5E1"/>
                </a:solidFill>
              </a:defRPr>
            </a:pPr>
            <a:r>
              <a:rPr sz="1575" b="0" dirty="0">
                <a:solidFill>
                  <a:srgbClr val="CBD5E1"/>
                </a:solidFill>
              </a:rPr>
              <a:t>Output LLM </a:t>
            </a:r>
            <a:r>
              <a:rPr sz="1575" b="0" dirty="0" err="1">
                <a:solidFill>
                  <a:srgbClr val="CBD5E1"/>
                </a:solidFill>
              </a:rPr>
              <a:t>verificato</a:t>
            </a:r>
            <a:r>
              <a:rPr sz="1575" b="0" dirty="0">
                <a:solidFill>
                  <a:srgbClr val="CBD5E1"/>
                </a:solidFill>
              </a:rPr>
              <a:t>: tragic hero </a:t>
            </a:r>
            <a:r>
              <a:rPr sz="1575" b="0" dirty="0" err="1">
                <a:solidFill>
                  <a:srgbClr val="CBD5E1"/>
                </a:solidFill>
              </a:rPr>
              <a:t>viene</a:t>
            </a:r>
            <a:r>
              <a:rPr sz="1575" b="0" dirty="0">
                <a:solidFill>
                  <a:srgbClr val="CBD5E1"/>
                </a:solidFill>
              </a:rPr>
              <a:t> </a:t>
            </a:r>
            <a:r>
              <a:rPr sz="1575" b="0" dirty="0" err="1">
                <a:solidFill>
                  <a:srgbClr val="CBD5E1"/>
                </a:solidFill>
              </a:rPr>
              <a:t>riusato</a:t>
            </a:r>
            <a:r>
              <a:rPr sz="1575" b="0" dirty="0">
                <a:solidFill>
                  <a:srgbClr val="CBD5E1"/>
                </a:solidFill>
              </a:rPr>
              <a:t> da </a:t>
            </a:r>
            <a:r>
              <a:rPr sz="1575" b="0" dirty="0" err="1">
                <a:solidFill>
                  <a:srgbClr val="CBD5E1"/>
                </a:solidFill>
              </a:rPr>
              <a:t>Wikidata</a:t>
            </a:r>
            <a:r>
              <a:rPr sz="1575" b="0" dirty="0">
                <a:solidFill>
                  <a:srgbClr val="CBD5E1"/>
                </a:solidFill>
              </a:rPr>
              <a:t>; sacrificial shinobi </a:t>
            </a:r>
            <a:r>
              <a:rPr sz="1575" b="0" dirty="0" err="1">
                <a:solidFill>
                  <a:srgbClr val="CBD5E1"/>
                </a:solidFill>
              </a:rPr>
              <a:t>diventa</a:t>
            </a:r>
            <a:r>
              <a:rPr sz="1575" b="0" dirty="0">
                <a:solidFill>
                  <a:srgbClr val="CBD5E1"/>
                </a:solidFill>
              </a:rPr>
              <a:t> </a:t>
            </a:r>
            <a:r>
              <a:rPr sz="1575" b="0" dirty="0" err="1">
                <a:solidFill>
                  <a:srgbClr val="CBD5E1"/>
                </a:solidFill>
              </a:rPr>
              <a:t>archetipo</a:t>
            </a:r>
            <a:r>
              <a:rPr sz="1575" b="0" dirty="0">
                <a:solidFill>
                  <a:srgbClr val="CBD5E1"/>
                </a:solidFill>
              </a:rPr>
              <a:t> </a:t>
            </a:r>
            <a:r>
              <a:rPr sz="1575" b="0" dirty="0" err="1">
                <a:solidFill>
                  <a:srgbClr val="CBD5E1"/>
                </a:solidFill>
              </a:rPr>
              <a:t>giapponese</a:t>
            </a:r>
            <a:r>
              <a:rPr sz="1575" b="0" dirty="0">
                <a:solidFill>
                  <a:srgbClr val="CBD5E1"/>
                </a:solidFill>
              </a:rPr>
              <a:t> locale.</a:t>
            </a:r>
          </a:p>
        </p:txBody>
      </p:sp>
    </p:spTree>
    <p:extLst>
      <p:ext uri="{BB962C8B-B14F-4D97-AF65-F5344CB8AC3E}">
        <p14:creationId xmlns:p14="http://schemas.microsoft.com/office/powerpoint/2010/main" val="1716101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E5AC53CA-A42A-4C57-B30E-D55F17AE236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Conclusione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54172AA5-8448-423D-A0ED-10652D1A58EE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AniManga O-KG propone un metodo controllato per arricchire Wikidata senza delegare tutto agli LLM.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394D5BE-4DED-487A-8E59-A168D868508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A52FEEF-D4E4-4785-AFA4-D1E3F677E00A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83C284F-9595-4927-AF71-6629E96C8A38}"/>
              </a:ext>
            </a:extLst>
          </p:cNvPr>
          <p:cNvSpPr>
            <a:spLocks noGrp="1"/>
          </p:cNvSpPr>
          <p:nvPr/>
        </p:nvSpPr>
        <p:spPr>
          <a:xfrm>
            <a:off x="1123950" y="2143125"/>
            <a:ext cx="171450" cy="1714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5D717E7-118B-48B0-9483-96A3C336C257}"/>
              </a:ext>
            </a:extLst>
          </p:cNvPr>
          <p:cNvSpPr>
            <a:spLocks noGrp="1"/>
          </p:cNvSpPr>
          <p:nvPr/>
        </p:nvSpPr>
        <p:spPr>
          <a:xfrm>
            <a:off x="1447800" y="2095500"/>
            <a:ext cx="901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SPARQL individua e misura il gap.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8C8D3BF-0B0A-4C0F-97E5-454EA260448A}"/>
              </a:ext>
            </a:extLst>
          </p:cNvPr>
          <p:cNvSpPr>
            <a:spLocks noGrp="1"/>
          </p:cNvSpPr>
          <p:nvPr/>
        </p:nvSpPr>
        <p:spPr>
          <a:xfrm>
            <a:off x="1123950" y="2695575"/>
            <a:ext cx="171450" cy="1714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BA77F4-E288-4DC5-A3AD-0B46E3C8C26C}"/>
              </a:ext>
            </a:extLst>
          </p:cNvPr>
          <p:cNvSpPr>
            <a:spLocks noGrp="1"/>
          </p:cNvSpPr>
          <p:nvPr/>
        </p:nvSpPr>
        <p:spPr>
          <a:xfrm>
            <a:off x="1447800" y="2647950"/>
            <a:ext cx="901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UNION rivela la frammentazione delle modellazioni.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A04F81B-F2D4-47E3-B3D3-C7442E3A6D71}"/>
              </a:ext>
            </a:extLst>
          </p:cNvPr>
          <p:cNvSpPr>
            <a:spLocks noGrp="1"/>
          </p:cNvSpPr>
          <p:nvPr/>
        </p:nvSpPr>
        <p:spPr>
          <a:xfrm>
            <a:off x="1123950" y="3248025"/>
            <a:ext cx="171450" cy="1714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5E067E3-A279-4A0D-B2AF-6B317B477635}"/>
              </a:ext>
            </a:extLst>
          </p:cNvPr>
          <p:cNvSpPr>
            <a:spLocks noGrp="1"/>
          </p:cNvSpPr>
          <p:nvPr/>
        </p:nvSpPr>
        <p:spPr>
          <a:xfrm>
            <a:off x="1447800" y="3200400"/>
            <a:ext cx="901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Gli LLM formulano ipotesi narrative, non identificativi definitivi.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727DEBB-251F-41EF-8240-088C2AEB4C47}"/>
              </a:ext>
            </a:extLst>
          </p:cNvPr>
          <p:cNvSpPr>
            <a:spLocks noGrp="1"/>
          </p:cNvSpPr>
          <p:nvPr/>
        </p:nvSpPr>
        <p:spPr>
          <a:xfrm>
            <a:off x="1123950" y="3800475"/>
            <a:ext cx="171450" cy="1714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09CD2AD-5E02-44BD-A68F-1B474D474FFF}"/>
              </a:ext>
            </a:extLst>
          </p:cNvPr>
          <p:cNvSpPr>
            <a:spLocks noGrp="1"/>
          </p:cNvSpPr>
          <p:nvPr/>
        </p:nvSpPr>
        <p:spPr>
          <a:xfrm>
            <a:off x="1447800" y="3752850"/>
            <a:ext cx="901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La validazione umana e SPARQL trasformano solo le ipotesi solide in RDF.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4CD5891-13AE-40EC-95F6-B9576D6D34C9}"/>
              </a:ext>
            </a:extLst>
          </p:cNvPr>
          <p:cNvSpPr>
            <a:spLocks noGrp="1"/>
          </p:cNvSpPr>
          <p:nvPr/>
        </p:nvSpPr>
        <p:spPr>
          <a:xfrm>
            <a:off x="1123950" y="4819650"/>
            <a:ext cx="9334500" cy="78105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AD763AD-19B1-4E49-976D-B78CBD230B78}"/>
              </a:ext>
            </a:extLst>
          </p:cNvPr>
          <p:cNvSpPr>
            <a:spLocks noGrp="1"/>
          </p:cNvSpPr>
          <p:nvPr/>
        </p:nvSpPr>
        <p:spPr>
          <a:xfrm>
            <a:off x="1466850" y="50482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Risultato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C3D7878-39E8-4D65-828E-EA6ECE97AD1C}"/>
              </a:ext>
            </a:extLst>
          </p:cNvPr>
          <p:cNvSpPr>
            <a:spLocks noGrp="1"/>
          </p:cNvSpPr>
          <p:nvPr/>
        </p:nvSpPr>
        <p:spPr>
          <a:xfrm>
            <a:off x="3143250" y="50101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Il progetto trasforma un vuoto descrittivo sugli archetipi in un processo ripetibile di proposta, controllo e pubblicazione RDF.</a:t>
            </a:r>
          </a:p>
        </p:txBody>
      </p:sp>
    </p:spTree>
    <p:extLst>
      <p:ext uri="{BB962C8B-B14F-4D97-AF65-F5344CB8AC3E}">
        <p14:creationId xmlns:p14="http://schemas.microsoft.com/office/powerpoint/2010/main" val="431909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747</Words>
  <Application>Microsoft Macintosh PowerPoint</Application>
  <DocSecurity>0</DocSecurity>
  <PresentationFormat>Widescreen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Michele Franco - michele.franco3@studio.unibo.it</cp:lastModifiedBy>
  <cp:revision>2</cp:revision>
  <dcterms:created xsi:type="dcterms:W3CDTF">2026-06-30T19:31:47Z</dcterms:created>
  <dcterms:modified xsi:type="dcterms:W3CDTF">2026-06-30T20:26:26Z</dcterms:modified>
</cp:coreProperties>
</file>